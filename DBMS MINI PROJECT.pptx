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4"/>
  </p:notesMasterIdLst>
  <p:handoutMasterIdLst>
    <p:handoutMasterId r:id="rId25"/>
  </p:handoutMasterIdLst>
  <p:sldIdLst>
    <p:sldId id="300" r:id="rId2"/>
    <p:sldId id="301" r:id="rId3"/>
    <p:sldId id="302" r:id="rId4"/>
    <p:sldId id="303" r:id="rId5"/>
    <p:sldId id="304" r:id="rId6"/>
    <p:sldId id="305" r:id="rId7"/>
    <p:sldId id="306" r:id="rId8"/>
    <p:sldId id="307" r:id="rId9"/>
    <p:sldId id="308" r:id="rId10"/>
    <p:sldId id="309" r:id="rId11"/>
    <p:sldId id="325" r:id="rId12"/>
    <p:sldId id="326" r:id="rId13"/>
    <p:sldId id="327" r:id="rId14"/>
    <p:sldId id="328" r:id="rId15"/>
    <p:sldId id="329" r:id="rId16"/>
    <p:sldId id="318" r:id="rId17"/>
    <p:sldId id="319" r:id="rId18"/>
    <p:sldId id="320" r:id="rId19"/>
    <p:sldId id="321" r:id="rId20"/>
    <p:sldId id="322" r:id="rId21"/>
    <p:sldId id="323" r:id="rId22"/>
    <p:sldId id="32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6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637"/>
  </p:normalViewPr>
  <p:slideViewPr>
    <p:cSldViewPr snapToGrid="0" snapToObjects="1">
      <p:cViewPr>
        <p:scale>
          <a:sx n="71" d="100"/>
          <a:sy n="71" d="100"/>
        </p:scale>
        <p:origin x="-1072" y="-1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99AFBAA7-FA2D-25D3-CF15-0CEC1F7F83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BE7FFF94-D75F-EFC3-D82F-D6D0007FF5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20E24A-AA14-4742-9955-7B67427BBE03}" type="datetimeFigureOut">
              <a:rPr lang="en-US" smtClean="0"/>
              <a:t>8/1/2026</a:t>
            </a:fld>
            <a:endParaRPr lang="en-US"/>
          </a:p>
        </p:txBody>
      </p:sp>
      <p:sp>
        <p:nvSpPr>
          <p:cNvPr id="4" name="Footer Placeholder 3">
            <a:extLst>
              <a:ext uri="{FF2B5EF4-FFF2-40B4-BE49-F238E27FC236}">
                <a16:creationId xmlns:a16="http://schemas.microsoft.com/office/drawing/2014/main" xmlns="" id="{91CD5C55-C943-48BB-6339-CB68B869181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Dept. of CSE</a:t>
            </a:r>
          </a:p>
        </p:txBody>
      </p:sp>
      <p:sp>
        <p:nvSpPr>
          <p:cNvPr id="5" name="Slide Number Placeholder 4">
            <a:extLst>
              <a:ext uri="{FF2B5EF4-FFF2-40B4-BE49-F238E27FC236}">
                <a16:creationId xmlns:a16="http://schemas.microsoft.com/office/drawing/2014/main" xmlns="" id="{7585E502-68C4-0572-A4B1-D36132A4A7A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8D67BA-51DD-FB45-9A63-6C1A48DD69CF}" type="slidenum">
              <a:rPr lang="en-US" smtClean="0"/>
              <a:t>‹#›</a:t>
            </a:fld>
            <a:endParaRPr lang="en-US"/>
          </a:p>
        </p:txBody>
      </p:sp>
    </p:spTree>
    <p:extLst>
      <p:ext uri="{BB962C8B-B14F-4D97-AF65-F5344CB8AC3E}">
        <p14:creationId xmlns:p14="http://schemas.microsoft.com/office/powerpoint/2010/main" val="389271355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362FAB-303A-064F-B1E7-AF60446EDF53}" type="datetimeFigureOut">
              <a:rPr lang="en-US" smtClean="0"/>
              <a:t>8/1/2026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Dept. of CSE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568F2E-313B-C84C-A2BA-1713512AF0B5}" type="slidenum">
              <a:rPr lang="en-US" smtClean="0"/>
              <a:t>‹#›</a:t>
            </a:fld>
            <a:endParaRPr lang="en-US"/>
          </a:p>
        </p:txBody>
      </p:sp>
    </p:spTree>
    <p:extLst>
      <p:ext uri="{BB962C8B-B14F-4D97-AF65-F5344CB8AC3E}">
        <p14:creationId xmlns:p14="http://schemas.microsoft.com/office/powerpoint/2010/main" val="175458928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C352CD-1611-7044-92AB-8AAFD1EDA140}" type="datetime1">
              <a:rPr lang="en-IN" smtClean="0"/>
              <a:t>01-08-2026</a:t>
            </a:fld>
            <a:endParaRPr lang="en-US"/>
          </a:p>
        </p:txBody>
      </p:sp>
      <p:sp>
        <p:nvSpPr>
          <p:cNvPr id="5" name="Footer Placeholder 4"/>
          <p:cNvSpPr>
            <a:spLocks noGrp="1"/>
          </p:cNvSpPr>
          <p:nvPr>
            <p:ph type="ftr" sz="quarter" idx="11"/>
          </p:nvPr>
        </p:nvSpPr>
        <p:spPr/>
        <p:txBody>
          <a:bodyPr/>
          <a:lstStyle/>
          <a:p>
            <a:r>
              <a:rPr lang="en-US"/>
              <a:t>Dept. of CSE</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FCFAF-34B1-9A4C-A867-76075420CBD7}" type="datetime1">
              <a:rPr lang="en-IN" smtClean="0"/>
              <a:t>01-08-2026</a:t>
            </a:fld>
            <a:endParaRPr lang="en-US"/>
          </a:p>
        </p:txBody>
      </p:sp>
      <p:sp>
        <p:nvSpPr>
          <p:cNvPr id="5" name="Footer Placeholder 4"/>
          <p:cNvSpPr>
            <a:spLocks noGrp="1"/>
          </p:cNvSpPr>
          <p:nvPr>
            <p:ph type="ftr" sz="quarter" idx="11"/>
          </p:nvPr>
        </p:nvSpPr>
        <p:spPr/>
        <p:txBody>
          <a:bodyPr/>
          <a:lstStyle/>
          <a:p>
            <a:r>
              <a:rPr lang="en-US"/>
              <a:t>Dept. of CSE</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703133-6315-A646-9EB6-CD0071302718}" type="datetime1">
              <a:rPr lang="en-IN" smtClean="0"/>
              <a:t>01-08-2026</a:t>
            </a:fld>
            <a:endParaRPr lang="en-US"/>
          </a:p>
        </p:txBody>
      </p:sp>
      <p:sp>
        <p:nvSpPr>
          <p:cNvPr id="5" name="Footer Placeholder 4"/>
          <p:cNvSpPr>
            <a:spLocks noGrp="1"/>
          </p:cNvSpPr>
          <p:nvPr>
            <p:ph type="ftr" sz="quarter" idx="11"/>
          </p:nvPr>
        </p:nvSpPr>
        <p:spPr/>
        <p:txBody>
          <a:bodyPr/>
          <a:lstStyle/>
          <a:p>
            <a:r>
              <a:rPr lang="en-US"/>
              <a:t>Dept. of CSE</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24258D-7AD5-624F-935F-D55F178F8AFD}" type="datetime1">
              <a:rPr lang="en-IN" smtClean="0"/>
              <a:t>01-08-2026</a:t>
            </a:fld>
            <a:endParaRPr lang="en-US"/>
          </a:p>
        </p:txBody>
      </p:sp>
      <p:sp>
        <p:nvSpPr>
          <p:cNvPr id="6" name="Footer Placeholder 5"/>
          <p:cNvSpPr>
            <a:spLocks noGrp="1"/>
          </p:cNvSpPr>
          <p:nvPr>
            <p:ph type="ftr" sz="quarter" idx="11"/>
          </p:nvPr>
        </p:nvSpPr>
        <p:spPr/>
        <p:txBody>
          <a:bodyPr/>
          <a:lstStyle/>
          <a:p>
            <a:r>
              <a:rPr lang="en-US"/>
              <a:t>Dept. of CSE</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48B064-D963-7B46-B0D8-F886390EE428}" type="datetime1">
              <a:rPr lang="en-IN" smtClean="0"/>
              <a:t>01-08-2026</a:t>
            </a:fld>
            <a:endParaRPr lang="en-US"/>
          </a:p>
        </p:txBody>
      </p:sp>
      <p:sp>
        <p:nvSpPr>
          <p:cNvPr id="8" name="Footer Placeholder 7"/>
          <p:cNvSpPr>
            <a:spLocks noGrp="1"/>
          </p:cNvSpPr>
          <p:nvPr>
            <p:ph type="ftr" sz="quarter" idx="11"/>
          </p:nvPr>
        </p:nvSpPr>
        <p:spPr/>
        <p:txBody>
          <a:bodyPr/>
          <a:lstStyle/>
          <a:p>
            <a:r>
              <a:rPr lang="en-US"/>
              <a:t>Dept. of CSE</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360D56-7202-8945-8139-0DA981ADCA55}" type="datetime1">
              <a:rPr lang="en-IN" smtClean="0"/>
              <a:t>01-08-2026</a:t>
            </a:fld>
            <a:endParaRPr lang="en-US"/>
          </a:p>
        </p:txBody>
      </p:sp>
      <p:sp>
        <p:nvSpPr>
          <p:cNvPr id="4" name="Footer Placeholder 3"/>
          <p:cNvSpPr>
            <a:spLocks noGrp="1"/>
          </p:cNvSpPr>
          <p:nvPr>
            <p:ph type="ftr" sz="quarter" idx="11"/>
          </p:nvPr>
        </p:nvSpPr>
        <p:spPr/>
        <p:txBody>
          <a:bodyPr/>
          <a:lstStyle/>
          <a:p>
            <a:r>
              <a:rPr lang="en-US"/>
              <a:t>Dept. of CSE</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812A3-C3D2-1540-B50A-A1160BCB4317}" type="datetime1">
              <a:rPr lang="en-IN" smtClean="0"/>
              <a:t>01-08-2026</a:t>
            </a:fld>
            <a:endParaRPr lang="en-US"/>
          </a:p>
        </p:txBody>
      </p:sp>
      <p:sp>
        <p:nvSpPr>
          <p:cNvPr id="3" name="Footer Placeholder 2"/>
          <p:cNvSpPr>
            <a:spLocks noGrp="1"/>
          </p:cNvSpPr>
          <p:nvPr>
            <p:ph type="ftr" sz="quarter" idx="11"/>
          </p:nvPr>
        </p:nvSpPr>
        <p:spPr/>
        <p:txBody>
          <a:bodyPr/>
          <a:lstStyle/>
          <a:p>
            <a:r>
              <a:rPr lang="en-US"/>
              <a:t>Dept. of CSE</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4DF67D-4095-AA40-8358-C849B1784A88}" type="datetime1">
              <a:rPr lang="en-IN" smtClean="0"/>
              <a:t>01-08-2026</a:t>
            </a:fld>
            <a:endParaRPr lang="en-US"/>
          </a:p>
        </p:txBody>
      </p:sp>
      <p:sp>
        <p:nvSpPr>
          <p:cNvPr id="6" name="Footer Placeholder 5"/>
          <p:cNvSpPr>
            <a:spLocks noGrp="1"/>
          </p:cNvSpPr>
          <p:nvPr>
            <p:ph type="ftr" sz="quarter" idx="11"/>
          </p:nvPr>
        </p:nvSpPr>
        <p:spPr/>
        <p:txBody>
          <a:bodyPr/>
          <a:lstStyle/>
          <a:p>
            <a:r>
              <a:rPr lang="en-US"/>
              <a:t>Dept. of CSE</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2A2E36-4BD5-F340-B44A-D087F3BEC698}" type="datetime1">
              <a:rPr lang="en-IN" smtClean="0"/>
              <a:t>01-08-2026</a:t>
            </a:fld>
            <a:endParaRPr lang="en-US"/>
          </a:p>
        </p:txBody>
      </p:sp>
      <p:sp>
        <p:nvSpPr>
          <p:cNvPr id="6" name="Footer Placeholder 5"/>
          <p:cNvSpPr>
            <a:spLocks noGrp="1"/>
          </p:cNvSpPr>
          <p:nvPr>
            <p:ph type="ftr" sz="quarter" idx="11"/>
          </p:nvPr>
        </p:nvSpPr>
        <p:spPr/>
        <p:txBody>
          <a:bodyPr/>
          <a:lstStyle/>
          <a:p>
            <a:r>
              <a:rPr lang="en-US"/>
              <a:t>Dept. of CSE</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3A5377-17F2-0B47-9409-F04019F320DF}" type="datetime1">
              <a:rPr lang="en-IN" smtClean="0"/>
              <a:t>01-08-2026</a:t>
            </a:fld>
            <a:endParaRPr lang="en-US"/>
          </a:p>
        </p:txBody>
      </p:sp>
      <p:sp>
        <p:nvSpPr>
          <p:cNvPr id="5" name="Footer Placeholder 4"/>
          <p:cNvSpPr>
            <a:spLocks noGrp="1"/>
          </p:cNvSpPr>
          <p:nvPr>
            <p:ph type="ftr" sz="quarter" idx="11"/>
          </p:nvPr>
        </p:nvSpPr>
        <p:spPr/>
        <p:txBody>
          <a:bodyPr/>
          <a:lstStyle/>
          <a:p>
            <a:r>
              <a:rPr lang="en-US"/>
              <a:t>Dept. of CSE</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F5B45C-A12C-DB43-832A-459CE01AB651}" type="datetime1">
              <a:rPr lang="en-IN" smtClean="0"/>
              <a:t>01-08-2026</a:t>
            </a:fld>
            <a:endParaRPr lang="en-US"/>
          </a:p>
        </p:txBody>
      </p:sp>
      <p:sp>
        <p:nvSpPr>
          <p:cNvPr id="5" name="Footer Placeholder 4"/>
          <p:cNvSpPr>
            <a:spLocks noGrp="1"/>
          </p:cNvSpPr>
          <p:nvPr>
            <p:ph type="ftr" sz="quarter" idx="11"/>
          </p:nvPr>
        </p:nvSpPr>
        <p:spPr/>
        <p:txBody>
          <a:bodyPr/>
          <a:lstStyle/>
          <a:p>
            <a:r>
              <a:rPr lang="en-US"/>
              <a:t>Dept. of CSE</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F183E-F91E-B240-9B23-08C27D53F02B}" type="datetime1">
              <a:rPr lang="en-IN" smtClean="0"/>
              <a:t>01-08-2026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rahul@gmail.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w3schools.com/sql/?utm_source=chatgpt.com" TargetMode="External"/><Relationship Id="rId7" Type="http://schemas.openxmlformats.org/officeDocument/2006/relationships/hyperlink" Target="https://docs.oracle.com/en/database/?utm_source=chatgpt.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tutorialspoint.com/dbms/index.htm?utm_source=chatgpt.com" TargetMode="External"/><Relationship Id="rId5" Type="http://schemas.openxmlformats.org/officeDocument/2006/relationships/hyperlink" Target="https://www.geeksforgeeks.org/?utm_source=chatgpt.com" TargetMode="External"/><Relationship Id="rId4" Type="http://schemas.openxmlformats.org/officeDocument/2006/relationships/hyperlink" Target="https://dev.mysql.com/doc/?utm_source=chatgpt.com"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946010"/>
            <a:ext cx="8667254" cy="1071029"/>
          </a:xfrm>
        </p:spPr>
        <p:txBody>
          <a:bodyPr>
            <a:normAutofit/>
          </a:bodyPr>
          <a:lstStyle/>
          <a:p>
            <a:r>
              <a:rPr lang="en-IN" sz="3200" dirty="0">
                <a:solidFill>
                  <a:schemeClr val="accent6"/>
                </a:solidFill>
                <a:latin typeface="Times New Roman" panose="02020603050405020304" pitchFamily="18" charset="0"/>
                <a:cs typeface="Times New Roman" panose="02020603050405020304" pitchFamily="18" charset="0"/>
              </a:rPr>
              <a:t>Sapthagiri NPS University</a:t>
            </a:r>
            <a:br>
              <a:rPr lang="en-IN" sz="3200" dirty="0">
                <a:solidFill>
                  <a:schemeClr val="accent6"/>
                </a:solidFill>
                <a:latin typeface="Times New Roman" panose="02020603050405020304" pitchFamily="18" charset="0"/>
                <a:cs typeface="Times New Roman" panose="02020603050405020304" pitchFamily="18" charset="0"/>
              </a:rPr>
            </a:br>
            <a:r>
              <a:rPr lang="en-IN" sz="3200" dirty="0">
                <a:solidFill>
                  <a:schemeClr val="accent6"/>
                </a:solidFill>
                <a:latin typeface="Times New Roman" panose="02020603050405020304" pitchFamily="18" charset="0"/>
                <a:cs typeface="Times New Roman" panose="02020603050405020304" pitchFamily="18" charset="0"/>
              </a:rPr>
              <a:t>Department of Computer Science and Engineering</a:t>
            </a:r>
            <a:endParaRPr sz="3200" dirty="0"/>
          </a:p>
        </p:txBody>
      </p:sp>
      <p:sp>
        <p:nvSpPr>
          <p:cNvPr id="3" name="Subtitle 2"/>
          <p:cNvSpPr>
            <a:spLocks noGrp="1"/>
          </p:cNvSpPr>
          <p:nvPr>
            <p:ph type="subTitle" idx="1"/>
          </p:nvPr>
        </p:nvSpPr>
        <p:spPr>
          <a:xfrm>
            <a:off x="1927632" y="2164131"/>
            <a:ext cx="5496366" cy="2277835"/>
          </a:xfrm>
        </p:spPr>
        <p:txBody>
          <a:bodyPr>
            <a:normAutofit/>
          </a:bodyPr>
          <a:lstStyle/>
          <a:p>
            <a:r>
              <a:rPr lang="en-US" dirty="0"/>
              <a:t/>
            </a:r>
            <a:br>
              <a:rPr lang="en-US" dirty="0"/>
            </a:br>
            <a:r>
              <a:rPr lang="en-US" dirty="0" smtClean="0"/>
              <a:t>Movie Ticket Management System</a:t>
            </a:r>
            <a:endParaRPr lang="en-US" dirty="0">
              <a:solidFill>
                <a:schemeClr val="accent5">
                  <a:lumMod val="60000"/>
                  <a:lumOff val="40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4CF77AAC-4FE5-0C3F-C1BA-A2E8AAAE8036}"/>
              </a:ext>
            </a:extLst>
          </p:cNvPr>
          <p:cNvPicPr>
            <a:picLocks noChangeAspect="1"/>
          </p:cNvPicPr>
          <p:nvPr/>
        </p:nvPicPr>
        <p:blipFill>
          <a:blip r:embed="rId2"/>
          <a:stretch>
            <a:fillRect/>
          </a:stretch>
        </p:blipFill>
        <p:spPr>
          <a:xfrm>
            <a:off x="171268" y="50620"/>
            <a:ext cx="2250103" cy="689973"/>
          </a:xfrm>
          <a:prstGeom prst="rect">
            <a:avLst/>
          </a:prstGeom>
        </p:spPr>
      </p:pic>
      <p:sp>
        <p:nvSpPr>
          <p:cNvPr id="4" name="TextBox 3">
            <a:extLst>
              <a:ext uri="{FF2B5EF4-FFF2-40B4-BE49-F238E27FC236}">
                <a16:creationId xmlns:a16="http://schemas.microsoft.com/office/drawing/2014/main" xmlns="" id="{DD687802-A1E6-3C19-AA41-A454275192B9}"/>
              </a:ext>
            </a:extLst>
          </p:cNvPr>
          <p:cNvSpPr txBox="1"/>
          <p:nvPr/>
        </p:nvSpPr>
        <p:spPr>
          <a:xfrm>
            <a:off x="5602420" y="5002621"/>
            <a:ext cx="3540125" cy="1477328"/>
          </a:xfrm>
          <a:prstGeom prst="rect">
            <a:avLst/>
          </a:prstGeom>
          <a:noFill/>
        </p:spPr>
        <p:txBody>
          <a:bodyPr wrap="square" rtlCol="0">
            <a:spAutoFit/>
          </a:bodyPr>
          <a:lstStyle/>
          <a:p>
            <a:r>
              <a:rPr dirty="0">
                <a:solidFill>
                  <a:srgbClr val="FF0000"/>
                </a:solidFill>
              </a:rPr>
              <a:t>Under the Guidance of</a:t>
            </a:r>
          </a:p>
          <a:p>
            <a:r>
              <a:rPr dirty="0">
                <a:solidFill>
                  <a:srgbClr val="FF0000"/>
                </a:solidFill>
              </a:rPr>
              <a:t>Faculty Name:  Mrs. Swetha D</a:t>
            </a:r>
          </a:p>
          <a:p>
            <a:r>
              <a:rPr dirty="0">
                <a:solidFill>
                  <a:srgbClr val="FF0000"/>
                </a:solidFill>
              </a:rPr>
              <a:t>Designation:    Assistant Professor</a:t>
            </a:r>
          </a:p>
          <a:p>
            <a:r>
              <a:rPr dirty="0">
                <a:solidFill>
                  <a:srgbClr val="FF0000"/>
                </a:solidFill>
              </a:rPr>
              <a:t>Department:    CSE Department</a:t>
            </a:r>
          </a:p>
          <a:p>
            <a:endParaRPr dirty="0"/>
          </a:p>
        </p:txBody>
      </p:sp>
      <p:sp>
        <p:nvSpPr>
          <p:cNvPr id="6" name="TextBox 5">
            <a:extLst>
              <a:ext uri="{FF2B5EF4-FFF2-40B4-BE49-F238E27FC236}">
                <a16:creationId xmlns:a16="http://schemas.microsoft.com/office/drawing/2014/main" xmlns="" id="{78E36E0D-88C2-B592-B27C-A5815238A311}"/>
              </a:ext>
            </a:extLst>
          </p:cNvPr>
          <p:cNvSpPr txBox="1"/>
          <p:nvPr/>
        </p:nvSpPr>
        <p:spPr>
          <a:xfrm>
            <a:off x="171268" y="4840961"/>
            <a:ext cx="3956593" cy="1754326"/>
          </a:xfrm>
          <a:prstGeom prst="rect">
            <a:avLst/>
          </a:prstGeom>
          <a:noFill/>
        </p:spPr>
        <p:txBody>
          <a:bodyPr wrap="square" rtlCol="0">
            <a:spAutoFit/>
          </a:bodyPr>
          <a:lstStyle/>
          <a:p>
            <a:r>
              <a:rPr lang="en-IN" dirty="0">
                <a:solidFill>
                  <a:srgbClr val="FF0000"/>
                </a:solidFill>
                <a:latin typeface="Times New Roman" panose="02020603050405020304" pitchFamily="18" charset="0"/>
                <a:cs typeface="Times New Roman" panose="02020603050405020304" pitchFamily="18" charset="0"/>
              </a:rPr>
              <a:t>Presented by: </a:t>
            </a:r>
          </a:p>
          <a:p>
            <a:r>
              <a:rPr lang="en-IN" dirty="0" err="1" smtClean="0">
                <a:solidFill>
                  <a:srgbClr val="FF0000"/>
                </a:solidFill>
                <a:latin typeface="Times New Roman" panose="02020603050405020304" pitchFamily="18" charset="0"/>
                <a:cs typeface="Times New Roman" panose="02020603050405020304" pitchFamily="18" charset="0"/>
              </a:rPr>
              <a:t>Tejaswini</a:t>
            </a:r>
            <a:r>
              <a:rPr lang="en-IN" dirty="0" smtClean="0">
                <a:solidFill>
                  <a:srgbClr val="FF0000"/>
                </a:solidFill>
                <a:latin typeface="Times New Roman" panose="02020603050405020304" pitchFamily="18" charset="0"/>
                <a:cs typeface="Times New Roman" panose="02020603050405020304" pitchFamily="18" charset="0"/>
              </a:rPr>
              <a:t> S: 24SUUBECS2265</a:t>
            </a:r>
            <a:endParaRPr lang="en-IN" dirty="0">
              <a:solidFill>
                <a:srgbClr val="FF0000"/>
              </a:solidFill>
              <a:latin typeface="Times New Roman" panose="02020603050405020304" pitchFamily="18" charset="0"/>
              <a:cs typeface="Times New Roman" panose="02020603050405020304" pitchFamily="18" charset="0"/>
            </a:endParaRPr>
          </a:p>
          <a:p>
            <a:r>
              <a:rPr lang="en-IN" dirty="0" err="1" smtClean="0">
                <a:solidFill>
                  <a:srgbClr val="FF0000"/>
                </a:solidFill>
                <a:latin typeface="Times New Roman" panose="02020603050405020304" pitchFamily="18" charset="0"/>
                <a:cs typeface="Times New Roman" panose="02020603050405020304" pitchFamily="18" charset="0"/>
              </a:rPr>
              <a:t>Teju</a:t>
            </a:r>
            <a:r>
              <a:rPr lang="en-IN" dirty="0" smtClean="0">
                <a:solidFill>
                  <a:srgbClr val="FF0000"/>
                </a:solidFill>
                <a:latin typeface="Times New Roman" panose="02020603050405020304" pitchFamily="18" charset="0"/>
                <a:cs typeface="Times New Roman" panose="02020603050405020304" pitchFamily="18" charset="0"/>
              </a:rPr>
              <a:t> K G: 24SUUBECS2266</a:t>
            </a:r>
            <a:endParaRPr lang="en-IN" dirty="0">
              <a:solidFill>
                <a:srgbClr val="FF0000"/>
              </a:solidFill>
              <a:latin typeface="Times New Roman" panose="02020603050405020304" pitchFamily="18" charset="0"/>
              <a:cs typeface="Times New Roman" panose="02020603050405020304" pitchFamily="18" charset="0"/>
            </a:endParaRPr>
          </a:p>
          <a:p>
            <a:r>
              <a:rPr lang="en-IN" dirty="0" err="1" smtClean="0">
                <a:solidFill>
                  <a:srgbClr val="FF0000"/>
                </a:solidFill>
                <a:latin typeface="Times New Roman" panose="02020603050405020304" pitchFamily="18" charset="0"/>
                <a:cs typeface="Times New Roman" panose="02020603050405020304" pitchFamily="18" charset="0"/>
              </a:rPr>
              <a:t>Thanish</a:t>
            </a:r>
            <a:r>
              <a:rPr lang="en-IN" dirty="0" smtClean="0">
                <a:solidFill>
                  <a:srgbClr val="FF0000"/>
                </a:solidFill>
                <a:latin typeface="Times New Roman" panose="02020603050405020304" pitchFamily="18" charset="0"/>
                <a:cs typeface="Times New Roman" panose="02020603050405020304" pitchFamily="18" charset="0"/>
              </a:rPr>
              <a:t> K L: 24SUUBECS2267</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solidFill>
                <a:srgbClr val="FF0000"/>
              </a:solidFill>
              <a:latin typeface="Times New Roman" panose="02020603050405020304" pitchFamily="18" charset="0"/>
              <a:cs typeface="Times New Roman" panose="02020603050405020304" pitchFamily="18" charset="0"/>
            </a:endParaRPr>
          </a:p>
          <a:p>
            <a:endParaRPr lang="en-IN"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Agenda</a:t>
            </a:r>
            <a:endParaRPr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defRPr sz="1800"/>
            </a:pPr>
            <a:r>
              <a:rPr lang="en-US" sz="1800" dirty="0">
                <a:latin typeface="Times New Roman" panose="02020603050405020304" pitchFamily="18" charset="0"/>
                <a:cs typeface="Times New Roman" panose="02020603050405020304" pitchFamily="18" charset="0"/>
              </a:rPr>
              <a:t>Introduction</a:t>
            </a:r>
          </a:p>
          <a:p>
            <a:pPr>
              <a:defRPr sz="1800"/>
            </a:pPr>
            <a:r>
              <a:rPr lang="en-US" sz="1800" dirty="0">
                <a:latin typeface="Times New Roman" panose="02020603050405020304" pitchFamily="18" charset="0"/>
                <a:cs typeface="Times New Roman" panose="02020603050405020304" pitchFamily="18" charset="0"/>
              </a:rPr>
              <a:t>Problem Definition</a:t>
            </a:r>
          </a:p>
          <a:p>
            <a:pPr>
              <a:defRPr sz="1800"/>
            </a:pPr>
            <a:r>
              <a:rPr lang="en-US" sz="1800" dirty="0">
                <a:latin typeface="Times New Roman" panose="02020603050405020304" pitchFamily="18" charset="0"/>
                <a:cs typeface="Times New Roman" panose="02020603050405020304" pitchFamily="18" charset="0"/>
              </a:rPr>
              <a:t>Database Design</a:t>
            </a:r>
          </a:p>
          <a:p>
            <a:pPr>
              <a:defRPr sz="1800"/>
            </a:pPr>
            <a:r>
              <a:rPr lang="en-US" sz="1800" dirty="0">
                <a:latin typeface="Times New Roman" panose="02020603050405020304" pitchFamily="18" charset="0"/>
                <a:cs typeface="Times New Roman" panose="02020603050405020304" pitchFamily="18" charset="0"/>
              </a:rPr>
              <a:t>Tables and Relationships</a:t>
            </a:r>
          </a:p>
          <a:p>
            <a:pPr>
              <a:defRPr sz="1800"/>
            </a:pPr>
            <a:r>
              <a:rPr lang="en-US" sz="1800" dirty="0">
                <a:latin typeface="Times New Roman" panose="02020603050405020304" pitchFamily="18" charset="0"/>
                <a:cs typeface="Times New Roman" panose="02020603050405020304" pitchFamily="18" charset="0"/>
              </a:rPr>
              <a:t>SQL Queries / CRUD Operations</a:t>
            </a:r>
          </a:p>
          <a:p>
            <a:pPr>
              <a:defRPr sz="1800"/>
            </a:pPr>
            <a:r>
              <a:rPr lang="en-US" sz="1800" dirty="0">
                <a:latin typeface="Times New Roman" panose="02020603050405020304" pitchFamily="18" charset="0"/>
                <a:cs typeface="Times New Roman" panose="02020603050405020304" pitchFamily="18" charset="0"/>
              </a:rPr>
              <a:t>Frontend and Output</a:t>
            </a:r>
          </a:p>
          <a:p>
            <a:pPr>
              <a:defRPr sz="1800"/>
            </a:pPr>
            <a:r>
              <a:rPr lang="en-US" sz="1800" dirty="0">
                <a:latin typeface="Times New Roman" panose="02020603050405020304" pitchFamily="18" charset="0"/>
                <a:cs typeface="Times New Roman" panose="02020603050405020304" pitchFamily="18" charset="0"/>
              </a:rPr>
              <a:t>Advantages and Limitations</a:t>
            </a:r>
          </a:p>
          <a:p>
            <a:pPr>
              <a:defRPr sz="1800"/>
            </a:pPr>
            <a:r>
              <a:rPr lang="en-US" sz="1800" dirty="0">
                <a:latin typeface="Times New Roman" panose="02020603050405020304" pitchFamily="18" charset="0"/>
                <a:cs typeface="Times New Roman" panose="02020603050405020304" pitchFamily="18" charset="0"/>
              </a:rPr>
              <a:t>Conclusion</a:t>
            </a:r>
          </a:p>
          <a:p>
            <a:pPr>
              <a:defRPr sz="1800"/>
            </a:pPr>
            <a:r>
              <a:rPr lang="en-US" sz="1800" dirty="0">
                <a:latin typeface="Times New Roman" panose="02020603050405020304" pitchFamily="18" charset="0"/>
                <a:cs typeface="Times New Roman" panose="02020603050405020304" pitchFamily="18" charset="0"/>
              </a:rPr>
              <a:t>Future Scope</a:t>
            </a:r>
          </a:p>
          <a:p>
            <a:pPr>
              <a:defRPr sz="1800"/>
            </a:pPr>
            <a:r>
              <a:rPr lang="en-US" sz="1800" dirty="0">
                <a:latin typeface="Times New Roman" panose="02020603050405020304" pitchFamily="18" charset="0"/>
                <a:cs typeface="Times New Roman" panose="02020603050405020304" pitchFamily="18" charset="0"/>
              </a:rPr>
              <a:t>References</a:t>
            </a:r>
          </a:p>
        </p:txBody>
      </p:sp>
      <p:pic>
        <p:nvPicPr>
          <p:cNvPr id="4" name="Picture 3">
            <a:extLst>
              <a:ext uri="{FF2B5EF4-FFF2-40B4-BE49-F238E27FC236}">
                <a16:creationId xmlns:a16="http://schemas.microsoft.com/office/drawing/2014/main" xmlns="" id="{9A0E4500-883D-09F6-33B2-2D350D2A818E}"/>
              </a:ext>
            </a:extLst>
          </p:cNvPr>
          <p:cNvPicPr>
            <a:picLocks noChangeAspect="1"/>
          </p:cNvPicPr>
          <p:nvPr/>
        </p:nvPicPr>
        <p:blipFill>
          <a:blip r:embed="rId2"/>
          <a:stretch>
            <a:fillRect/>
          </a:stretch>
        </p:blipFill>
        <p:spPr>
          <a:xfrm>
            <a:off x="171268" y="50620"/>
            <a:ext cx="2250103" cy="689973"/>
          </a:xfrm>
          <a:prstGeom prst="rect">
            <a:avLst/>
          </a:prstGeom>
        </p:spPr>
      </p:pic>
      <p:sp>
        <p:nvSpPr>
          <p:cNvPr id="5" name="Footer Placeholder 4">
            <a:extLst>
              <a:ext uri="{FF2B5EF4-FFF2-40B4-BE49-F238E27FC236}">
                <a16:creationId xmlns:a16="http://schemas.microsoft.com/office/drawing/2014/main" xmlns="" id="{DF014806-C1D7-E812-2B45-CFED49D4E502}"/>
              </a:ext>
            </a:extLst>
          </p:cNvPr>
          <p:cNvSpPr>
            <a:spLocks noGrp="1"/>
          </p:cNvSpPr>
          <p:nvPr>
            <p:ph type="ftr" sz="quarter" idx="11"/>
          </p:nvPr>
        </p:nvSpPr>
        <p:spPr/>
        <p:txBody>
          <a:bodyPr/>
          <a:lstStyle/>
          <a:p>
            <a:r>
              <a:rPr lang="en-US"/>
              <a:t>Dept. of CSE</a:t>
            </a:r>
          </a:p>
        </p:txBody>
      </p:sp>
      <p:sp>
        <p:nvSpPr>
          <p:cNvPr id="6" name="Slide Number Placeholder 5">
            <a:extLst>
              <a:ext uri="{FF2B5EF4-FFF2-40B4-BE49-F238E27FC236}">
                <a16:creationId xmlns:a16="http://schemas.microsoft.com/office/drawing/2014/main" xmlns="" id="{944B547C-33E4-22AD-72BA-C2B76D496B17}"/>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74638"/>
            <a:ext cx="8229600" cy="600000"/>
          </a:xfrm>
        </p:spPr>
        <p:txBody>
          <a:bodyPr/>
          <a:lstStyle/>
          <a:p>
            <a:r>
              <a:rPr lang="en-US" sz="2400" b="1" dirty="0">
                <a:latin typeface="Times New Roman" panose="02020603050405020304" pitchFamily="18" charset="0"/>
                <a:cs typeface="Times New Roman" panose="02020603050405020304" pitchFamily="18" charset="0"/>
              </a:rPr>
              <a:t>Introduction</a:t>
            </a:r>
          </a:p>
        </p:txBody>
      </p:sp>
      <p:sp>
        <p:nvSpPr>
          <p:cNvPr id="3" name="Body"/>
          <p:cNvSpPr>
            <a:spLocks noGrp="1"/>
          </p:cNvSpPr>
          <p:nvPr>
            <p:ph idx="1"/>
          </p:nvPr>
        </p:nvSpPr>
        <p:spPr>
          <a:xfrm>
            <a:off x="457200" y="1000000"/>
            <a:ext cx="4300000" cy="5300000"/>
          </a:xfrm>
        </p:spPr>
        <p:txBody>
          <a:bodyPr>
            <a:normAutofit/>
          </a:bodyPr>
          <a:lstStyle/>
          <a:p>
            <a:pPr>
              <a:lnSpc>
                <a:spcPct val="120000"/>
              </a:lnSpc>
              <a:buFont typeface="Arial" pitchFamily="34" charset="0"/>
              <a:buChar char="•"/>
            </a:pPr>
            <a:r>
              <a:rPr lang="en-US" sz="1800" dirty="0"/>
              <a:t>The Movie Ticket Booking System is a database-based application used for online movie ticket reservations. </a:t>
            </a:r>
            <a:endParaRPr lang="en-US" sz="1800" dirty="0" smtClean="0"/>
          </a:p>
          <a:p>
            <a:pPr>
              <a:lnSpc>
                <a:spcPct val="120000"/>
              </a:lnSpc>
              <a:buFont typeface="Arial" pitchFamily="34" charset="0"/>
              <a:buChar char="•"/>
            </a:pPr>
            <a:r>
              <a:rPr lang="en-US" sz="1800" dirty="0" smtClean="0"/>
              <a:t>It </a:t>
            </a:r>
            <a:r>
              <a:rPr lang="en-US" sz="1800" dirty="0"/>
              <a:t>helps users book movie tickets quickly and easily. </a:t>
            </a:r>
            <a:endParaRPr lang="en-US" sz="1800" dirty="0" smtClean="0"/>
          </a:p>
          <a:p>
            <a:pPr>
              <a:lnSpc>
                <a:spcPct val="120000"/>
              </a:lnSpc>
              <a:buFont typeface="Arial" pitchFamily="34" charset="0"/>
              <a:buChar char="•"/>
            </a:pPr>
            <a:r>
              <a:rPr lang="en-US" sz="1800" dirty="0" smtClean="0"/>
              <a:t>Customers </a:t>
            </a:r>
            <a:r>
              <a:rPr lang="en-US" sz="1800" dirty="0"/>
              <a:t>can view movie schedules, select seats, and make bookings online. </a:t>
            </a:r>
            <a:endParaRPr lang="en-US" sz="1800" dirty="0" smtClean="0"/>
          </a:p>
          <a:p>
            <a:pPr>
              <a:lnSpc>
                <a:spcPct val="120000"/>
              </a:lnSpc>
              <a:buFont typeface="Arial" pitchFamily="34" charset="0"/>
              <a:buChar char="•"/>
            </a:pPr>
            <a:r>
              <a:rPr lang="en-US" sz="1800" dirty="0" smtClean="0"/>
              <a:t>The </a:t>
            </a:r>
            <a:r>
              <a:rPr lang="en-US" sz="1800" dirty="0"/>
              <a:t>system reduces manual work in theatres. </a:t>
            </a:r>
            <a:endParaRPr lang="en-US" sz="1800" dirty="0" smtClean="0"/>
          </a:p>
          <a:p>
            <a:pPr>
              <a:lnSpc>
                <a:spcPct val="120000"/>
              </a:lnSpc>
              <a:buFont typeface="Arial" pitchFamily="34" charset="0"/>
              <a:buChar char="•"/>
            </a:pPr>
            <a:r>
              <a:rPr lang="en-US" sz="1800" dirty="0" smtClean="0"/>
              <a:t>It </a:t>
            </a:r>
            <a:r>
              <a:rPr lang="en-US" sz="1800" dirty="0"/>
              <a:t>stores customer, movie, theatre, and booking details efficiently.</a:t>
            </a:r>
            <a:endParaRPr lang="en-US" sz="1800" dirty="0">
              <a:latin typeface="Times New Roman" panose="02020603050405020304" pitchFamily="18" charset="0"/>
              <a:cs typeface="Times New Roman" panose="02020603050405020304" pitchFamily="18" charset="0"/>
            </a:endParaRPr>
          </a:p>
        </p:txBody>
      </p:sp>
      <p:sp>
        <p:nvSpPr>
          <p:cNvPr id="11" name="ftr"/>
          <p:cNvSpPr>
            <a:spLocks noGrp="1"/>
          </p:cNvSpPr>
          <p:nvPr>
            <p:ph type="ftr" sz="quarter" idx="11"/>
          </p:nvPr>
        </p:nvSpPr>
        <p:spPr/>
        <p:txBody>
          <a:bodyPr/>
          <a:lstStyle/>
          <a:p>
            <a:r>
              <a:rPr lang="en-IN" dirty="0"/>
              <a:t>Dept. of CSE</a:t>
            </a:r>
          </a:p>
        </p:txBody>
      </p:sp>
      <p:pic>
        <p:nvPicPr>
          <p:cNvPr id="1026" name="Picture 2" descr="Online Movie Ticket Booking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304" y="874638"/>
            <a:ext cx="3857625" cy="54253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74638"/>
            <a:ext cx="8229600" cy="600000"/>
          </a:xfrm>
        </p:spPr>
        <p:txBody>
          <a:bodyPr/>
          <a:lstStyle/>
          <a:p>
            <a:r>
              <a:rPr lang="en-US" sz="2400" b="1" dirty="0">
                <a:latin typeface="Times New Roman" panose="02020603050405020304" pitchFamily="18" charset="0"/>
                <a:cs typeface="Times New Roman" panose="02020603050405020304" pitchFamily="18" charset="0"/>
              </a:rPr>
              <a:t>Problem Definition</a:t>
            </a:r>
          </a:p>
        </p:txBody>
      </p:sp>
      <p:sp>
        <p:nvSpPr>
          <p:cNvPr id="3" name="Body"/>
          <p:cNvSpPr>
            <a:spLocks noGrp="1"/>
          </p:cNvSpPr>
          <p:nvPr>
            <p:ph idx="1"/>
          </p:nvPr>
        </p:nvSpPr>
        <p:spPr>
          <a:xfrm>
            <a:off x="457200" y="1000000"/>
            <a:ext cx="4300000" cy="5300000"/>
          </a:xfrm>
        </p:spPr>
        <p:txBody>
          <a:bodyPr>
            <a:normAutofit/>
          </a:bodyPr>
          <a:lstStyle/>
          <a:p>
            <a:r>
              <a:rPr lang="en-US" sz="1800" b="1" dirty="0"/>
              <a:t>Real-World Problem</a:t>
            </a:r>
          </a:p>
          <a:p>
            <a:r>
              <a:rPr lang="en-US" sz="1800" dirty="0"/>
              <a:t>Manual ticket booking process consumes more time. </a:t>
            </a:r>
          </a:p>
          <a:p>
            <a:r>
              <a:rPr lang="en-US" sz="1800" dirty="0"/>
              <a:t>Customers need to stand in long queues for tickets. </a:t>
            </a:r>
          </a:p>
          <a:p>
            <a:r>
              <a:rPr lang="en-US" sz="1800" b="1" dirty="0" smtClean="0"/>
              <a:t>Difficulties </a:t>
            </a:r>
            <a:r>
              <a:rPr lang="en-US" sz="1800" b="1" dirty="0"/>
              <a:t>Faced Without the System</a:t>
            </a:r>
          </a:p>
          <a:p>
            <a:r>
              <a:rPr lang="en-US" sz="1800" dirty="0"/>
              <a:t>Duplicate seat booking may happen. </a:t>
            </a:r>
          </a:p>
          <a:p>
            <a:r>
              <a:rPr lang="en-US" sz="1800" dirty="0"/>
              <a:t>Increased paperwork and manual calculations. </a:t>
            </a:r>
          </a:p>
          <a:p>
            <a:r>
              <a:rPr lang="en-US" sz="1800" b="1" dirty="0" smtClean="0"/>
              <a:t>Need </a:t>
            </a:r>
            <a:r>
              <a:rPr lang="en-US" sz="1800" b="1" dirty="0"/>
              <a:t>for the Project</a:t>
            </a:r>
          </a:p>
          <a:p>
            <a:r>
              <a:rPr lang="en-US" sz="1800" dirty="0"/>
              <a:t>To automate the movie ticket booking process. </a:t>
            </a:r>
          </a:p>
          <a:p>
            <a:r>
              <a:rPr lang="en-US" sz="1800" dirty="0"/>
              <a:t>To provide online ticket reservation facilities. </a:t>
            </a:r>
          </a:p>
          <a:p>
            <a:endParaRPr lang="en-US" sz="1800" dirty="0">
              <a:latin typeface="Times New Roman" panose="02020603050405020304" pitchFamily="18" charset="0"/>
              <a:cs typeface="Times New Roman" panose="02020603050405020304" pitchFamily="18" charset="0"/>
            </a:endParaRPr>
          </a:p>
        </p:txBody>
      </p:sp>
      <p:sp>
        <p:nvSpPr>
          <p:cNvPr id="11" name="ftr"/>
          <p:cNvSpPr>
            <a:spLocks noGrp="1"/>
          </p:cNvSpPr>
          <p:nvPr>
            <p:ph type="ftr" sz="quarter" idx="11"/>
          </p:nvPr>
        </p:nvSpPr>
        <p:spPr/>
        <p:txBody>
          <a:bodyPr/>
          <a:lstStyle/>
          <a:p>
            <a:r>
              <a:rPr lang="en-IN" dirty="0"/>
              <a:t>Dept. of CSE</a:t>
            </a:r>
          </a:p>
        </p:txBody>
      </p:sp>
      <p:pic>
        <p:nvPicPr>
          <p:cNvPr id="6146" name="Picture 2" descr="Indian Cinema is going through a tough phase (article in comments) :  r/BollyBlindsNGossi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0468" y="1000000"/>
            <a:ext cx="2836332" cy="550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Database Design</a:t>
            </a:r>
          </a:p>
        </p:txBody>
      </p:sp>
      <p:sp>
        <p:nvSpPr>
          <p:cNvPr id="3" name="Content Placeholder 2"/>
          <p:cNvSpPr>
            <a:spLocks noGrp="1"/>
          </p:cNvSpPr>
          <p:nvPr>
            <p:ph idx="1"/>
          </p:nvPr>
        </p:nvSpPr>
        <p:spPr/>
        <p:txBody>
          <a:bodyPr>
            <a:noAutofit/>
          </a:bodyPr>
          <a:lstStyle/>
          <a:p>
            <a:pPr>
              <a:lnSpc>
                <a:spcPct val="120000"/>
              </a:lnSpc>
              <a:buFont typeface="Arial" panose="020B0604020202020204" pitchFamily="34" charset="0"/>
              <a:buChar char="•"/>
              <a:defRPr sz="1800"/>
            </a:pPr>
            <a:r>
              <a:rPr lang="en-US" sz="1800" dirty="0"/>
              <a:t>The ER diagram includes entities such as Customer, Movie, Theatre, Screen, Seat, Booking, and Payment</a:t>
            </a:r>
            <a:r>
              <a:rPr lang="en-US" sz="1800" dirty="0" smtClean="0"/>
              <a:t>.</a:t>
            </a:r>
          </a:p>
          <a:p>
            <a:pPr>
              <a:lnSpc>
                <a:spcPct val="120000"/>
              </a:lnSpc>
              <a:buFont typeface="Arial" panose="020B0604020202020204" pitchFamily="34" charset="0"/>
              <a:buChar char="•"/>
              <a:defRPr sz="1800"/>
            </a:pPr>
            <a:r>
              <a:rPr lang="en-US" sz="1800" dirty="0"/>
              <a:t>Entities have attributes such as </a:t>
            </a:r>
            <a:r>
              <a:rPr lang="en-US" sz="1800" dirty="0" err="1"/>
              <a:t>Customer_ID</a:t>
            </a:r>
            <a:r>
              <a:rPr lang="en-US" sz="1800" dirty="0"/>
              <a:t>, </a:t>
            </a:r>
            <a:r>
              <a:rPr lang="en-US" sz="1800" dirty="0" err="1"/>
              <a:t>Customer_Name</a:t>
            </a:r>
            <a:r>
              <a:rPr lang="en-US" sz="1800" dirty="0"/>
              <a:t>, </a:t>
            </a:r>
            <a:r>
              <a:rPr lang="en-US" sz="1800" dirty="0" err="1"/>
              <a:t>Phone_Number</a:t>
            </a:r>
            <a:r>
              <a:rPr lang="en-US" sz="1800" dirty="0"/>
              <a:t>, </a:t>
            </a:r>
            <a:r>
              <a:rPr lang="en-US" sz="1800" dirty="0" err="1"/>
              <a:t>Movie_ID</a:t>
            </a:r>
            <a:r>
              <a:rPr lang="en-US" sz="1800" dirty="0"/>
              <a:t>, </a:t>
            </a:r>
            <a:r>
              <a:rPr lang="en-US" sz="1800" dirty="0" err="1"/>
              <a:t>Movie_Name</a:t>
            </a:r>
            <a:r>
              <a:rPr lang="en-US" sz="1800" dirty="0"/>
              <a:t>, </a:t>
            </a:r>
            <a:r>
              <a:rPr lang="en-US" sz="1800" dirty="0" err="1"/>
              <a:t>Theatre_Name</a:t>
            </a:r>
            <a:r>
              <a:rPr lang="en-US" sz="1800" dirty="0"/>
              <a:t>, </a:t>
            </a:r>
            <a:r>
              <a:rPr lang="en-US" sz="1800" dirty="0" err="1"/>
              <a:t>Screen_ID</a:t>
            </a:r>
            <a:r>
              <a:rPr lang="en-US" sz="1800" dirty="0"/>
              <a:t>, </a:t>
            </a:r>
            <a:r>
              <a:rPr lang="en-US" sz="1800" dirty="0" err="1"/>
              <a:t>Seat_Number</a:t>
            </a:r>
            <a:r>
              <a:rPr lang="en-US" sz="1800" dirty="0"/>
              <a:t>, </a:t>
            </a:r>
            <a:r>
              <a:rPr lang="en-US" sz="1800" dirty="0" err="1"/>
              <a:t>Booking_ID</a:t>
            </a:r>
            <a:r>
              <a:rPr lang="en-US" sz="1800" dirty="0"/>
              <a:t>, </a:t>
            </a:r>
            <a:r>
              <a:rPr lang="en-US" sz="1800" dirty="0" err="1"/>
              <a:t>Booking_Date</a:t>
            </a:r>
            <a:r>
              <a:rPr lang="en-US" sz="1800" dirty="0"/>
              <a:t>, </a:t>
            </a:r>
            <a:r>
              <a:rPr lang="en-US" sz="1800" dirty="0" err="1"/>
              <a:t>Payment_ID</a:t>
            </a:r>
            <a:r>
              <a:rPr lang="en-US" sz="1800" dirty="0"/>
              <a:t>, Amount, and </a:t>
            </a:r>
            <a:r>
              <a:rPr lang="en-US" sz="1800" dirty="0" err="1"/>
              <a:t>Payment_Status</a:t>
            </a:r>
            <a:r>
              <a:rPr lang="en-US" sz="1800" dirty="0"/>
              <a:t>. </a:t>
            </a:r>
          </a:p>
          <a:p>
            <a:pPr>
              <a:lnSpc>
                <a:spcPct val="120000"/>
              </a:lnSpc>
              <a:buFont typeface="Arial" panose="020B0604020202020204" pitchFamily="34" charset="0"/>
              <a:buChar char="•"/>
              <a:defRPr sz="1800"/>
            </a:pPr>
            <a:r>
              <a:rPr lang="en-US" sz="1800" dirty="0"/>
              <a:t>Primary keys are used to uniquely identify each record in a table and prevent duplicate entries in the database. For example, </a:t>
            </a:r>
            <a:r>
              <a:rPr lang="en-US" sz="1800" dirty="0" err="1"/>
              <a:t>Customer_ID</a:t>
            </a:r>
            <a:r>
              <a:rPr lang="en-US" sz="1800" dirty="0"/>
              <a:t> uniquely identifies each </a:t>
            </a:r>
            <a:r>
              <a:rPr lang="en-US" sz="1800" dirty="0" smtClean="0"/>
              <a:t>customer. </a:t>
            </a:r>
            <a:r>
              <a:rPr lang="en-US" sz="1800" dirty="0"/>
              <a:t>Foreign keys are used to create relationships between different tables in the database. For example, </a:t>
            </a:r>
            <a:r>
              <a:rPr lang="en-US" sz="1800" dirty="0" err="1"/>
              <a:t>Customer_ID</a:t>
            </a:r>
            <a:r>
              <a:rPr lang="en-US" sz="1800" dirty="0"/>
              <a:t> in the Booking table is used as a foreign key to connect the Booking table with the Customer </a:t>
            </a:r>
            <a:r>
              <a:rPr lang="en-US" sz="1800" dirty="0" smtClean="0"/>
              <a:t>table.</a:t>
            </a:r>
          </a:p>
          <a:p>
            <a:pPr>
              <a:lnSpc>
                <a:spcPct val="120000"/>
              </a:lnSpc>
              <a:buFont typeface="Arial" panose="020B0604020202020204" pitchFamily="34" charset="0"/>
              <a:buChar char="•"/>
              <a:defRPr sz="1800"/>
            </a:pPr>
            <a:r>
              <a:rPr lang="en-US" sz="1800" dirty="0"/>
              <a:t>The Movie Ticket Booking System database is normalized up to Third Normal Form (3NF) to reduce data redundancy and improve data consistency. Normalization helps organize data efficiently and avoids duplicate records in the database.</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xmlns="" id="{5A66AB21-891B-A875-0B76-633511B293B0}"/>
              </a:ext>
            </a:extLst>
          </p:cNvPr>
          <p:cNvPicPr>
            <a:picLocks noChangeAspect="1"/>
          </p:cNvPicPr>
          <p:nvPr/>
        </p:nvPicPr>
        <p:blipFill>
          <a:blip r:embed="rId2"/>
          <a:stretch>
            <a:fillRect/>
          </a:stretch>
        </p:blipFill>
        <p:spPr>
          <a:xfrm>
            <a:off x="171268" y="50620"/>
            <a:ext cx="2250103" cy="689973"/>
          </a:xfrm>
          <a:prstGeom prst="rect">
            <a:avLst/>
          </a:prstGeom>
        </p:spPr>
      </p:pic>
      <p:sp>
        <p:nvSpPr>
          <p:cNvPr id="5" name="Footer Placeholder 3">
            <a:extLst>
              <a:ext uri="{FF2B5EF4-FFF2-40B4-BE49-F238E27FC236}">
                <a16:creationId xmlns:a16="http://schemas.microsoft.com/office/drawing/2014/main" xmlns="" id="{AAE70D16-2F77-F2FB-9AF7-5B10A86AD155}"/>
              </a:ext>
            </a:extLst>
          </p:cNvPr>
          <p:cNvSpPr>
            <a:spLocks noGrp="1"/>
          </p:cNvSpPr>
          <p:nvPr>
            <p:ph type="ftr" sz="quarter" idx="11"/>
          </p:nvPr>
        </p:nvSpPr>
        <p:spPr>
          <a:xfrm>
            <a:off x="3124200" y="6356350"/>
            <a:ext cx="2895600" cy="365125"/>
          </a:xfrm>
        </p:spPr>
        <p:txBody>
          <a:bodyPr/>
          <a:lstStyle/>
          <a:p>
            <a:r>
              <a:rPr lang="en-US" dirty="0"/>
              <a:t>Dept. of CSE</a:t>
            </a:r>
          </a:p>
        </p:txBody>
      </p:sp>
      <p:sp>
        <p:nvSpPr>
          <p:cNvPr id="6" name="Slide Number Placeholder 4">
            <a:extLst>
              <a:ext uri="{FF2B5EF4-FFF2-40B4-BE49-F238E27FC236}">
                <a16:creationId xmlns:a16="http://schemas.microsoft.com/office/drawing/2014/main" xmlns="" id="{3C53555E-6AA5-9900-F6A5-B838730A825A}"/>
              </a:ext>
            </a:extLst>
          </p:cNvPr>
          <p:cNvSpPr>
            <a:spLocks noGrp="1"/>
          </p:cNvSpPr>
          <p:nvPr>
            <p:ph type="sldNum" sz="quarter" idx="12"/>
          </p:nvPr>
        </p:nvSpPr>
        <p:spPr>
          <a:xfrm>
            <a:off x="6553200" y="6356350"/>
            <a:ext cx="2133600" cy="365125"/>
          </a:xfrm>
        </p:spPr>
        <p:txBody>
          <a:bodyPr/>
          <a:lstStyle/>
          <a:p>
            <a:fld id="{C1FF6DA9-008F-8B48-92A6-B652298478BF}" type="slidenum">
              <a:rPr lang="en-US" smtClean="0"/>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74638"/>
            <a:ext cx="8229600" cy="570000"/>
          </a:xfrm>
        </p:spPr>
        <p:txBody>
          <a:bodyPr/>
          <a:lstStyle/>
          <a:p>
            <a:r>
              <a:rPr lang="en-US" sz="2400" b="1" dirty="0">
                <a:latin typeface="Times New Roman" panose="02020603050405020304" pitchFamily="18" charset="0"/>
                <a:cs typeface="Times New Roman" panose="02020603050405020304" pitchFamily="18" charset="0"/>
              </a:rPr>
              <a:t>ER Diagram — </a:t>
            </a:r>
            <a:r>
              <a:rPr lang="en-US" sz="2400" b="1" dirty="0" smtClean="0">
                <a:latin typeface="Times New Roman" panose="02020603050405020304" pitchFamily="18" charset="0"/>
                <a:cs typeface="Times New Roman" panose="02020603050405020304" pitchFamily="18" charset="0"/>
              </a:rPr>
              <a:t>Movie Ticket Booking System</a:t>
            </a:r>
            <a:endParaRPr lang="en-US" sz="2400" b="1" dirty="0">
              <a:latin typeface="Times New Roman" panose="02020603050405020304" pitchFamily="18" charset="0"/>
              <a:cs typeface="Times New Roman" panose="02020603050405020304" pitchFamily="18" charset="0"/>
            </a:endParaRPr>
          </a:p>
        </p:txBody>
      </p:sp>
      <p:sp>
        <p:nvSpPr>
          <p:cNvPr id="3" name="AutoShape 2" descr="ER Diagram for Online Booking Cinema | Createl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473201"/>
            <a:ext cx="8099942" cy="4512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5B9980E7-BAEE-9AEF-6F65-BBDC093727B1}"/>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C88EB4F3-3C8D-AE0F-3AAD-927324AF3D57}"/>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7" name="Title 1">
            <a:extLst>
              <a:ext uri="{FF2B5EF4-FFF2-40B4-BE49-F238E27FC236}">
                <a16:creationId xmlns:a16="http://schemas.microsoft.com/office/drawing/2014/main" xmlns="" id="{9E19840F-ECCA-C7FD-ECB2-A51970CC47BE}"/>
              </a:ext>
            </a:extLst>
          </p:cNvPr>
          <p:cNvSpPr>
            <a:spLocks noGrp="1"/>
          </p:cNvSpPr>
          <p:nvPr>
            <p:ph type="title"/>
          </p:nvPr>
        </p:nvSpPr>
        <p:spPr>
          <a:xfrm>
            <a:off x="457200" y="578567"/>
            <a:ext cx="8229600" cy="1143000"/>
          </a:xfrm>
        </p:spPr>
        <p:txBody>
          <a:bodyPr/>
          <a:lstStyle/>
          <a:p>
            <a:r>
              <a:rPr lang="en-US" sz="2400" b="1" dirty="0">
                <a:latin typeface="Times New Roman" panose="02020603050405020304" pitchFamily="18" charset="0"/>
                <a:cs typeface="Times New Roman" panose="02020603050405020304" pitchFamily="18" charset="0"/>
              </a:rPr>
              <a:t>Tables and Relationships</a:t>
            </a:r>
          </a:p>
        </p:txBody>
      </p:sp>
      <p:sp>
        <p:nvSpPr>
          <p:cNvPr id="8" name="Content Placeholder 2">
            <a:extLst>
              <a:ext uri="{FF2B5EF4-FFF2-40B4-BE49-F238E27FC236}">
                <a16:creationId xmlns:a16="http://schemas.microsoft.com/office/drawing/2014/main" xmlns="" id="{284AB86C-5F07-1EFF-9ED5-ECC1ED95F5A2}"/>
              </a:ext>
            </a:extLst>
          </p:cNvPr>
          <p:cNvSpPr>
            <a:spLocks noGrp="1"/>
          </p:cNvSpPr>
          <p:nvPr>
            <p:ph idx="1"/>
          </p:nvPr>
        </p:nvSpPr>
        <p:spPr>
          <a:xfrm>
            <a:off x="457200" y="1600200"/>
            <a:ext cx="8229600" cy="4525963"/>
          </a:xfrm>
        </p:spPr>
        <p:txBody>
          <a:bodyPr/>
          <a:lstStyle/>
          <a:p>
            <a:r>
              <a:rPr lang="en-US" sz="1800" b="1" dirty="0"/>
              <a:t>Important Tables Used in the Project</a:t>
            </a:r>
          </a:p>
          <a:p>
            <a:r>
              <a:rPr lang="en-US" sz="1800" b="1" dirty="0"/>
              <a:t>Tables and Relationships</a:t>
            </a:r>
          </a:p>
          <a:p>
            <a:r>
              <a:rPr lang="en-US" sz="1800" dirty="0"/>
              <a:t>• </a:t>
            </a:r>
            <a:r>
              <a:rPr lang="en-US" sz="1800" b="1" dirty="0"/>
              <a:t>Customer</a:t>
            </a:r>
            <a:r>
              <a:rPr lang="en-US" sz="1800" dirty="0"/>
              <a:t> </a:t>
            </a:r>
            <a:r>
              <a:rPr lang="en-US" sz="1800" i="1" dirty="0"/>
              <a:t>(</a:t>
            </a:r>
            <a:r>
              <a:rPr lang="en-US" sz="1800" i="1" dirty="0" err="1"/>
              <a:t>Customer_ID</a:t>
            </a:r>
            <a:r>
              <a:rPr lang="en-US" sz="1800" i="1" dirty="0"/>
              <a:t> PK, </a:t>
            </a:r>
            <a:r>
              <a:rPr lang="en-US" sz="1800" i="1" dirty="0" err="1"/>
              <a:t>Customer_Name</a:t>
            </a:r>
            <a:r>
              <a:rPr lang="en-US" sz="1800" i="1" dirty="0"/>
              <a:t>, </a:t>
            </a:r>
            <a:r>
              <a:rPr lang="en-US" sz="1800" i="1" dirty="0" err="1"/>
              <a:t>Phone_Number</a:t>
            </a:r>
            <a:r>
              <a:rPr lang="en-US" sz="1800" i="1" dirty="0"/>
              <a:t>, Email)</a:t>
            </a:r>
            <a:endParaRPr lang="en-US" sz="1800" dirty="0"/>
          </a:p>
          <a:p>
            <a:r>
              <a:rPr lang="en-US" sz="1800" dirty="0"/>
              <a:t>• </a:t>
            </a:r>
            <a:r>
              <a:rPr lang="en-US" sz="1800" b="1" dirty="0"/>
              <a:t>Movie</a:t>
            </a:r>
            <a:r>
              <a:rPr lang="en-US" sz="1800" dirty="0"/>
              <a:t> </a:t>
            </a:r>
            <a:r>
              <a:rPr lang="en-US" sz="1800" i="1" dirty="0"/>
              <a:t>(</a:t>
            </a:r>
            <a:r>
              <a:rPr lang="en-US" sz="1800" i="1" dirty="0" err="1"/>
              <a:t>Movie_ID</a:t>
            </a:r>
            <a:r>
              <a:rPr lang="en-US" sz="1800" i="1" dirty="0"/>
              <a:t> PK, </a:t>
            </a:r>
            <a:r>
              <a:rPr lang="en-US" sz="1800" i="1" dirty="0" err="1"/>
              <a:t>Movie_Name</a:t>
            </a:r>
            <a:r>
              <a:rPr lang="en-US" sz="1800" i="1" dirty="0"/>
              <a:t>, Genre, Duration, Language)</a:t>
            </a:r>
            <a:endParaRPr lang="en-US" sz="1800" dirty="0"/>
          </a:p>
          <a:p>
            <a:r>
              <a:rPr lang="en-US" sz="1800" dirty="0"/>
              <a:t>• </a:t>
            </a:r>
            <a:r>
              <a:rPr lang="en-US" sz="1800" b="1" dirty="0"/>
              <a:t>Theatre</a:t>
            </a:r>
            <a:r>
              <a:rPr lang="en-US" sz="1800" dirty="0"/>
              <a:t> </a:t>
            </a:r>
            <a:r>
              <a:rPr lang="en-US" sz="1800" i="1" dirty="0"/>
              <a:t>(</a:t>
            </a:r>
            <a:r>
              <a:rPr lang="en-US" sz="1800" i="1" dirty="0" err="1"/>
              <a:t>Theatre_ID</a:t>
            </a:r>
            <a:r>
              <a:rPr lang="en-US" sz="1800" i="1" dirty="0"/>
              <a:t> PK, </a:t>
            </a:r>
            <a:r>
              <a:rPr lang="en-US" sz="1800" i="1" dirty="0" err="1"/>
              <a:t>Theatre_Name</a:t>
            </a:r>
            <a:r>
              <a:rPr lang="en-US" sz="1800" i="1" dirty="0"/>
              <a:t>, Location)</a:t>
            </a:r>
            <a:endParaRPr lang="en-US" sz="1800" dirty="0"/>
          </a:p>
          <a:p>
            <a:r>
              <a:rPr lang="en-US" sz="1800" dirty="0"/>
              <a:t>• </a:t>
            </a:r>
            <a:r>
              <a:rPr lang="en-US" sz="1800" b="1" dirty="0"/>
              <a:t>Screen</a:t>
            </a:r>
            <a:r>
              <a:rPr lang="en-US" sz="1800" dirty="0"/>
              <a:t> </a:t>
            </a:r>
            <a:r>
              <a:rPr lang="en-US" sz="1800" i="1" dirty="0"/>
              <a:t>(</a:t>
            </a:r>
            <a:r>
              <a:rPr lang="en-US" sz="1800" i="1" dirty="0" err="1"/>
              <a:t>Screen_ID</a:t>
            </a:r>
            <a:r>
              <a:rPr lang="en-US" sz="1800" i="1" dirty="0"/>
              <a:t> PK, </a:t>
            </a:r>
            <a:r>
              <a:rPr lang="en-US" sz="1800" i="1" dirty="0" err="1"/>
              <a:t>Screen_Name</a:t>
            </a:r>
            <a:r>
              <a:rPr lang="en-US" sz="1800" i="1" dirty="0"/>
              <a:t>, </a:t>
            </a:r>
            <a:r>
              <a:rPr lang="en-US" sz="1800" i="1" dirty="0" err="1"/>
              <a:t>Theatre_ID</a:t>
            </a:r>
            <a:r>
              <a:rPr lang="en-US" sz="1800" i="1" dirty="0"/>
              <a:t> FK)</a:t>
            </a:r>
            <a:r>
              <a:rPr lang="en-US" sz="1800" dirty="0"/>
              <a:t> — One-to-Many with Theatre</a:t>
            </a:r>
          </a:p>
          <a:p>
            <a:r>
              <a:rPr lang="en-US" sz="1800" dirty="0"/>
              <a:t>• </a:t>
            </a:r>
            <a:r>
              <a:rPr lang="en-US" sz="1800" b="1" dirty="0"/>
              <a:t>Seat</a:t>
            </a:r>
            <a:r>
              <a:rPr lang="en-US" sz="1800" dirty="0"/>
              <a:t> </a:t>
            </a:r>
            <a:r>
              <a:rPr lang="en-US" sz="1800" i="1" dirty="0"/>
              <a:t>(</a:t>
            </a:r>
            <a:r>
              <a:rPr lang="en-US" sz="1800" i="1" dirty="0" err="1"/>
              <a:t>Seat_ID</a:t>
            </a:r>
            <a:r>
              <a:rPr lang="en-US" sz="1800" i="1" dirty="0"/>
              <a:t> PK, </a:t>
            </a:r>
            <a:r>
              <a:rPr lang="en-US" sz="1800" i="1" dirty="0" err="1"/>
              <a:t>Seat_Number</a:t>
            </a:r>
            <a:r>
              <a:rPr lang="en-US" sz="1800" i="1" dirty="0"/>
              <a:t>, </a:t>
            </a:r>
            <a:r>
              <a:rPr lang="en-US" sz="1800" i="1" dirty="0" err="1"/>
              <a:t>Screen_ID</a:t>
            </a:r>
            <a:r>
              <a:rPr lang="en-US" sz="1800" i="1" dirty="0"/>
              <a:t> FK)</a:t>
            </a:r>
            <a:r>
              <a:rPr lang="en-US" sz="1800" dirty="0"/>
              <a:t> — One-to-Many with Screen</a:t>
            </a:r>
          </a:p>
          <a:p>
            <a:r>
              <a:rPr lang="en-US" sz="1800" dirty="0"/>
              <a:t>• </a:t>
            </a:r>
            <a:r>
              <a:rPr lang="en-US" sz="1800" b="1" dirty="0"/>
              <a:t>Booking</a:t>
            </a:r>
            <a:r>
              <a:rPr lang="en-US" sz="1800" dirty="0"/>
              <a:t> </a:t>
            </a:r>
            <a:r>
              <a:rPr lang="en-US" sz="1800" i="1" dirty="0"/>
              <a:t>(</a:t>
            </a:r>
            <a:r>
              <a:rPr lang="en-US" sz="1800" i="1" dirty="0" err="1"/>
              <a:t>Booking_ID</a:t>
            </a:r>
            <a:r>
              <a:rPr lang="en-US" sz="1800" i="1" dirty="0"/>
              <a:t> PK, </a:t>
            </a:r>
            <a:r>
              <a:rPr lang="en-US" sz="1800" i="1" dirty="0" err="1"/>
              <a:t>Customer_ID</a:t>
            </a:r>
            <a:r>
              <a:rPr lang="en-US" sz="1800" i="1" dirty="0"/>
              <a:t> FK, </a:t>
            </a:r>
            <a:r>
              <a:rPr lang="en-US" sz="1800" i="1" dirty="0" err="1"/>
              <a:t>Movie_ID</a:t>
            </a:r>
            <a:r>
              <a:rPr lang="en-US" sz="1800" i="1" dirty="0"/>
              <a:t> FK, </a:t>
            </a:r>
            <a:r>
              <a:rPr lang="en-US" sz="1800" i="1" dirty="0" err="1"/>
              <a:t>Seat_ID</a:t>
            </a:r>
            <a:r>
              <a:rPr lang="en-US" sz="1800" i="1" dirty="0"/>
              <a:t> FK, </a:t>
            </a:r>
            <a:r>
              <a:rPr lang="en-US" sz="1800" i="1" dirty="0" err="1"/>
              <a:t>Booking_Date</a:t>
            </a:r>
            <a:r>
              <a:rPr lang="en-US" sz="1800" i="1" dirty="0"/>
              <a:t>)</a:t>
            </a:r>
            <a:r>
              <a:rPr lang="en-US" sz="1800" dirty="0"/>
              <a:t> — manages ticket reservations</a:t>
            </a:r>
          </a:p>
          <a:p>
            <a:r>
              <a:rPr lang="en-US" sz="1800" dirty="0"/>
              <a:t>• </a:t>
            </a:r>
            <a:r>
              <a:rPr lang="en-US" sz="1800" b="1" dirty="0"/>
              <a:t>Payment</a:t>
            </a:r>
            <a:r>
              <a:rPr lang="en-US" sz="1800" dirty="0"/>
              <a:t> </a:t>
            </a:r>
            <a:r>
              <a:rPr lang="en-US" sz="1800" i="1" dirty="0"/>
              <a:t>(</a:t>
            </a:r>
            <a:r>
              <a:rPr lang="en-US" sz="1800" i="1" dirty="0" err="1"/>
              <a:t>Payment_ID</a:t>
            </a:r>
            <a:r>
              <a:rPr lang="en-US" sz="1800" i="1" dirty="0"/>
              <a:t> PK, </a:t>
            </a:r>
            <a:r>
              <a:rPr lang="en-US" sz="1800" i="1" dirty="0" err="1"/>
              <a:t>Booking_ID</a:t>
            </a:r>
            <a:r>
              <a:rPr lang="en-US" sz="1800" i="1" dirty="0"/>
              <a:t> FK, Amount, </a:t>
            </a:r>
            <a:r>
              <a:rPr lang="en-US" sz="1800" i="1" dirty="0" err="1"/>
              <a:t>Payment_Method</a:t>
            </a:r>
            <a:r>
              <a:rPr lang="en-US" sz="1800" i="1" dirty="0"/>
              <a:t>, </a:t>
            </a:r>
            <a:r>
              <a:rPr lang="en-US" sz="1800" i="1" dirty="0" err="1"/>
              <a:t>Payment_Status</a:t>
            </a:r>
            <a:r>
              <a:rPr lang="en-US" sz="1800" i="1" dirty="0"/>
              <a:t>)</a:t>
            </a:r>
            <a:r>
              <a:rPr lang="en-US" sz="1800" dirty="0"/>
              <a:t> — One-to-One with Booking</a:t>
            </a:r>
          </a:p>
          <a:p>
            <a:pPr marL="342900" indent="-342900">
              <a:lnSpc>
                <a:spcPct val="120000"/>
              </a:lnSpc>
              <a:buFont typeface="Arial" panose="020B0604020202020204" pitchFamily="34" charset="0"/>
              <a:buChar char="•"/>
              <a:defRPr sz="1800"/>
            </a:pPr>
            <a:endParaRPr lang="en-US"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xmlns="" id="{BE81CEC6-636D-913E-6FCA-CE871ABD5079}"/>
              </a:ext>
            </a:extLst>
          </p:cNvPr>
          <p:cNvPicPr>
            <a:picLocks noChangeAspect="1"/>
          </p:cNvPicPr>
          <p:nvPr/>
        </p:nvPicPr>
        <p:blipFill>
          <a:blip r:embed="rId2"/>
          <a:stretch>
            <a:fillRect/>
          </a:stretch>
        </p:blipFill>
        <p:spPr>
          <a:xfrm>
            <a:off x="171268" y="50620"/>
            <a:ext cx="2250103" cy="689973"/>
          </a:xfrm>
          <a:prstGeom prst="rect">
            <a:avLst/>
          </a:prstGeom>
        </p:spPr>
      </p:pic>
    </p:spTree>
    <p:extLst>
      <p:ext uri="{BB962C8B-B14F-4D97-AF65-F5344CB8AC3E}">
        <p14:creationId xmlns:p14="http://schemas.microsoft.com/office/powerpoint/2010/main" val="4170294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74638"/>
            <a:ext cx="8229600" cy="570000"/>
          </a:xfrm>
        </p:spPr>
        <p:txBody>
          <a:bodyPr/>
          <a:lstStyle/>
          <a:p>
            <a:r>
              <a:rPr lang="en-US" sz="2400" b="1" dirty="0">
                <a:latin typeface="Times New Roman" panose="02020603050405020304" pitchFamily="18" charset="0"/>
                <a:cs typeface="Times New Roman" panose="02020603050405020304" pitchFamily="18" charset="0"/>
              </a:rPr>
              <a:t>Database Tables — Schema</a:t>
            </a:r>
          </a:p>
        </p:txBody>
      </p:sp>
      <p:sp>
        <p:nvSpPr>
          <p:cNvPr id="3" name="AutoShape 2" descr="Movie Ticketing System Database Design With Tables and ERD Samp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871" y="1319529"/>
            <a:ext cx="6807661" cy="4784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476850E0-CEC2-9B5B-293D-C433C0461125}"/>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5A7A4D27-9486-A2E7-1446-7D163F3D5D08}"/>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6" name="Title 1">
            <a:extLst>
              <a:ext uri="{FF2B5EF4-FFF2-40B4-BE49-F238E27FC236}">
                <a16:creationId xmlns:a16="http://schemas.microsoft.com/office/drawing/2014/main" xmlns="" id="{DFCE315E-0BD5-7DD0-B317-03A01480B2DD}"/>
              </a:ext>
            </a:extLst>
          </p:cNvPr>
          <p:cNvSpPr>
            <a:spLocks noGrp="1"/>
          </p:cNvSpPr>
          <p:nvPr>
            <p:ph type="title"/>
          </p:nvPr>
        </p:nvSpPr>
        <p:spPr>
          <a:xfrm>
            <a:off x="457200" y="540980"/>
            <a:ext cx="8229600" cy="1143000"/>
          </a:xfrm>
        </p:spPr>
        <p:txBody>
          <a:bodyPr/>
          <a:lstStyle/>
          <a:p>
            <a:r>
              <a:rPr lang="en-US" sz="2400" b="1" dirty="0">
                <a:latin typeface="Times New Roman" panose="02020603050405020304" pitchFamily="18" charset="0"/>
                <a:cs typeface="Times New Roman" panose="02020603050405020304" pitchFamily="18" charset="0"/>
              </a:rPr>
              <a:t>SQL Queries / CRUD Operations</a:t>
            </a:r>
          </a:p>
        </p:txBody>
      </p:sp>
      <p:sp>
        <p:nvSpPr>
          <p:cNvPr id="7" name="Content Placeholder 2">
            <a:extLst>
              <a:ext uri="{FF2B5EF4-FFF2-40B4-BE49-F238E27FC236}">
                <a16:creationId xmlns:a16="http://schemas.microsoft.com/office/drawing/2014/main" xmlns="" id="{C724146A-EDBC-F818-57E5-2CE2D6E9AD43}"/>
              </a:ext>
            </a:extLst>
          </p:cNvPr>
          <p:cNvSpPr txBox="1">
            <a:spLocks/>
          </p:cNvSpPr>
          <p:nvPr/>
        </p:nvSpPr>
        <p:spPr>
          <a:xfrm>
            <a:off x="609600" y="233470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IN" sz="1800" b="1" dirty="0"/>
              <a:t>SQL Queries / CRUD Operations</a:t>
            </a:r>
          </a:p>
          <a:p>
            <a:r>
              <a:rPr lang="en-IN" sz="1800" dirty="0"/>
              <a:t>• INSERT: INSERT INTO Customer VALUES (101, 'Rahul', '9876543210', '</a:t>
            </a:r>
            <a:r>
              <a:rPr lang="en-IN" sz="1800" dirty="0">
                <a:hlinkClick r:id="rId2"/>
              </a:rPr>
              <a:t>rahul@gmail.com</a:t>
            </a:r>
            <a:r>
              <a:rPr lang="en-IN" sz="1800" dirty="0"/>
              <a:t>');</a:t>
            </a:r>
          </a:p>
          <a:p>
            <a:r>
              <a:rPr lang="en-IN" sz="1800" dirty="0"/>
              <a:t>• SELECT: SELECT </a:t>
            </a:r>
            <a:r>
              <a:rPr lang="en-IN" sz="1800" dirty="0" err="1"/>
              <a:t>c.Customer_Name</a:t>
            </a:r>
            <a:r>
              <a:rPr lang="en-IN" sz="1800" dirty="0"/>
              <a:t>, </a:t>
            </a:r>
            <a:r>
              <a:rPr lang="en-IN" sz="1800" dirty="0" err="1"/>
              <a:t>m.Movie_Name</a:t>
            </a:r>
            <a:r>
              <a:rPr lang="en-IN" sz="1800" dirty="0"/>
              <a:t> FROM Booking b JOIN Customer c ON </a:t>
            </a:r>
            <a:r>
              <a:rPr lang="en-IN" sz="1800" dirty="0" err="1"/>
              <a:t>b.Customer_ID</a:t>
            </a:r>
            <a:r>
              <a:rPr lang="en-IN" sz="1800" dirty="0"/>
              <a:t> = </a:t>
            </a:r>
            <a:r>
              <a:rPr lang="en-IN" sz="1800" dirty="0" err="1"/>
              <a:t>c.Customer_ID</a:t>
            </a:r>
            <a:r>
              <a:rPr lang="en-IN" sz="1800" dirty="0"/>
              <a:t> JOIN Movie m ON </a:t>
            </a:r>
            <a:r>
              <a:rPr lang="en-IN" sz="1800" dirty="0" err="1"/>
              <a:t>b.Movie_ID</a:t>
            </a:r>
            <a:r>
              <a:rPr lang="en-IN" sz="1800" dirty="0"/>
              <a:t> = </a:t>
            </a:r>
            <a:r>
              <a:rPr lang="en-IN" sz="1800" dirty="0" err="1"/>
              <a:t>m.Movie_ID</a:t>
            </a:r>
            <a:r>
              <a:rPr lang="en-IN" sz="1800" dirty="0"/>
              <a:t>;</a:t>
            </a:r>
          </a:p>
          <a:p>
            <a:r>
              <a:rPr lang="en-IN" sz="1800" dirty="0"/>
              <a:t>• UPDATE: UPDATE Payment SET </a:t>
            </a:r>
            <a:r>
              <a:rPr lang="en-IN" sz="1800" dirty="0" err="1"/>
              <a:t>Payment_Status</a:t>
            </a:r>
            <a:r>
              <a:rPr lang="en-IN" sz="1800" dirty="0"/>
              <a:t>='Paid' WHERE </a:t>
            </a:r>
            <a:r>
              <a:rPr lang="en-IN" sz="1800" dirty="0" err="1"/>
              <a:t>Payment_ID</a:t>
            </a:r>
            <a:r>
              <a:rPr lang="en-IN" sz="1800" dirty="0"/>
              <a:t>=201;</a:t>
            </a:r>
          </a:p>
          <a:p>
            <a:r>
              <a:rPr lang="en-IN" sz="1800" dirty="0"/>
              <a:t>• DELETE: DELETE FROM Booking WHERE </a:t>
            </a:r>
            <a:r>
              <a:rPr lang="en-IN" sz="1800" dirty="0" err="1"/>
              <a:t>Booking_ID</a:t>
            </a:r>
            <a:r>
              <a:rPr lang="en-IN" sz="1800" dirty="0"/>
              <a:t>=105;</a:t>
            </a:r>
          </a:p>
          <a:p>
            <a:r>
              <a:rPr lang="en-IN" sz="1800" dirty="0"/>
              <a:t>• Aggregate: SELECT </a:t>
            </a:r>
            <a:r>
              <a:rPr lang="en-IN" sz="1800" dirty="0" err="1"/>
              <a:t>Movie_Name</a:t>
            </a:r>
            <a:r>
              <a:rPr lang="en-IN" sz="1800" dirty="0"/>
              <a:t>, COUNT(*) AS </a:t>
            </a:r>
            <a:r>
              <a:rPr lang="en-IN" sz="1800" dirty="0" err="1"/>
              <a:t>Total_Bookings</a:t>
            </a:r>
            <a:r>
              <a:rPr lang="en-IN" sz="1800" dirty="0"/>
              <a:t> FROM Movie GROUP BY </a:t>
            </a:r>
            <a:r>
              <a:rPr lang="en-IN" sz="1800" dirty="0" err="1"/>
              <a:t>Movie_Name</a:t>
            </a:r>
            <a:r>
              <a:rPr lang="en-IN" sz="1800" dirty="0"/>
              <a:t>;</a:t>
            </a:r>
          </a:p>
          <a:p>
            <a:pPr marL="342900" indent="-342900">
              <a:lnSpc>
                <a:spcPct val="120000"/>
              </a:lnSpc>
              <a:buFont typeface="Arial" panose="020B0604020202020204" pitchFamily="34" charset="0"/>
              <a:buChar char="•"/>
              <a:defRPr sz="1800"/>
            </a:pPr>
            <a:endParaRPr lang="en-US"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6D977226-E1CB-0BFF-6C61-2DB650FEEF4F}"/>
              </a:ext>
            </a:extLst>
          </p:cNvPr>
          <p:cNvPicPr>
            <a:picLocks noChangeAspect="1"/>
          </p:cNvPicPr>
          <p:nvPr/>
        </p:nvPicPr>
        <p:blipFill>
          <a:blip r:embed="rId3"/>
          <a:stretch>
            <a:fillRect/>
          </a:stretch>
        </p:blipFill>
        <p:spPr>
          <a:xfrm>
            <a:off x="171268" y="50620"/>
            <a:ext cx="2250103" cy="689973"/>
          </a:xfrm>
          <a:prstGeom prst="rect">
            <a:avLst/>
          </a:prstGeom>
        </p:spPr>
      </p:pic>
    </p:spTree>
    <p:extLst>
      <p:ext uri="{BB962C8B-B14F-4D97-AF65-F5344CB8AC3E}">
        <p14:creationId xmlns:p14="http://schemas.microsoft.com/office/powerpoint/2010/main" val="1466426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457200" y="274638"/>
            <a:ext cx="8229600" cy="570000"/>
          </a:xfrm>
        </p:spPr>
        <p:txBody>
          <a:bodyPr/>
          <a:lstStyle/>
          <a:p>
            <a:r>
              <a:rPr lang="en-US" sz="2400" b="1" dirty="0">
                <a:latin typeface="Times New Roman" panose="02020603050405020304" pitchFamily="18" charset="0"/>
                <a:cs typeface="Times New Roman" panose="02020603050405020304" pitchFamily="18" charset="0"/>
              </a:rPr>
              <a:t>Frontend / Interface — Application Screens</a:t>
            </a:r>
          </a:p>
        </p:txBody>
      </p:sp>
      <p:sp>
        <p:nvSpPr>
          <p:cNvPr id="3" name="Content"/>
          <p:cNvSpPr>
            <a:spLocks noGrp="1"/>
          </p:cNvSpPr>
          <p:nvPr>
            <p:ph idx="1"/>
          </p:nvPr>
        </p:nvSpPr>
        <p:spPr>
          <a:xfrm>
            <a:off x="457200" y="900000"/>
            <a:ext cx="8229600" cy="5500000"/>
          </a:xfrm>
        </p:spPr>
        <p:txBody>
          <a:bodyPr>
            <a:normAutofit fontScale="70000" lnSpcReduction="20000"/>
          </a:bodyPr>
          <a:lstStyle/>
          <a:p>
            <a:r>
              <a:rPr lang="en-US" dirty="0"/>
              <a:t>User View screen displays all available movies with title, show time, price, and available seats.</a:t>
            </a:r>
          </a:p>
          <a:p>
            <a:r>
              <a:rPr lang="en-US" dirty="0"/>
              <a:t>Movie Booking screen allows users to enter name and select number of seats for booking.</a:t>
            </a:r>
          </a:p>
          <a:p>
            <a:r>
              <a:rPr lang="en-US" dirty="0"/>
              <a:t>Ticket Receipt section shows movie name, customer name, seats booked, total price, and booking time.</a:t>
            </a:r>
          </a:p>
          <a:p>
            <a:r>
              <a:rPr lang="en-US" dirty="0"/>
              <a:t>Notification system displays success messages after ticket booking or adding movies.</a:t>
            </a:r>
          </a:p>
          <a:p>
            <a:r>
              <a:rPr lang="en-US" dirty="0"/>
              <a:t>Admin Panel is used to add new movies with title, time, price, and total seats.</a:t>
            </a:r>
          </a:p>
          <a:p>
            <a:r>
              <a:rPr lang="en-US" dirty="0"/>
              <a:t>Movie Database Management stores movie details using browser local storage.</a:t>
            </a:r>
          </a:p>
          <a:p>
            <a:r>
              <a:rPr lang="en-US" dirty="0"/>
              <a:t>Seat Availability System updates available seats automatically after each booking.</a:t>
            </a:r>
          </a:p>
          <a:p>
            <a:r>
              <a:rPr lang="en-US" dirty="0"/>
              <a:t>Sold Out feature disables booking when all seats are booked.</a:t>
            </a:r>
          </a:p>
          <a:p>
            <a:r>
              <a:rPr lang="en-US" dirty="0"/>
              <a:t>HTML is used for webpage structure and forms.</a:t>
            </a:r>
          </a:p>
          <a:p>
            <a:r>
              <a:rPr lang="en-US" dirty="0"/>
              <a:t>CSS is used for styling, layout, colors, and popup design.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USER VIEW </a:t>
            </a:r>
            <a:endParaRPr lang="en-IN" dirty="0"/>
          </a:p>
        </p:txBody>
      </p:sp>
      <p:sp>
        <p:nvSpPr>
          <p:cNvPr id="4" name="Footer Placeholder 3"/>
          <p:cNvSpPr>
            <a:spLocks noGrp="1"/>
          </p:cNvSpPr>
          <p:nvPr>
            <p:ph type="ftr" sz="quarter" idx="11"/>
          </p:nvPr>
        </p:nvSpPr>
        <p:spPr/>
        <p:txBody>
          <a:bodyPr/>
          <a:lstStyle/>
          <a:p>
            <a:r>
              <a:rPr lang="en-US" smtClean="0"/>
              <a:t>Dept. of CSE</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11</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51000"/>
            <a:ext cx="8229600" cy="470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825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MOVIE BOOKING SCREEN</a:t>
            </a:r>
            <a:endParaRPr lang="en-IN" dirty="0"/>
          </a:p>
        </p:txBody>
      </p:sp>
      <p:sp>
        <p:nvSpPr>
          <p:cNvPr id="4" name="Footer Placeholder 3"/>
          <p:cNvSpPr>
            <a:spLocks noGrp="1"/>
          </p:cNvSpPr>
          <p:nvPr>
            <p:ph type="ftr" sz="quarter" idx="11"/>
          </p:nvPr>
        </p:nvSpPr>
        <p:spPr/>
        <p:txBody>
          <a:bodyPr/>
          <a:lstStyle/>
          <a:p>
            <a:r>
              <a:rPr lang="en-US" smtClean="0"/>
              <a:t>Dept. of CSE</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12</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0019" y="1640566"/>
            <a:ext cx="7723647" cy="4715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7813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69962"/>
          </a:xfrm>
        </p:spPr>
        <p:txBody>
          <a:bodyPr/>
          <a:lstStyle/>
          <a:p>
            <a:r>
              <a:rPr lang="en-IN" dirty="0" smtClean="0"/>
              <a:t>TICKET RECEIPT </a:t>
            </a:r>
            <a:endParaRPr lang="en-IN" dirty="0"/>
          </a:p>
        </p:txBody>
      </p:sp>
      <p:sp>
        <p:nvSpPr>
          <p:cNvPr id="4" name="Footer Placeholder 3"/>
          <p:cNvSpPr>
            <a:spLocks noGrp="1"/>
          </p:cNvSpPr>
          <p:nvPr>
            <p:ph type="ftr" sz="quarter" idx="11"/>
          </p:nvPr>
        </p:nvSpPr>
        <p:spPr/>
        <p:txBody>
          <a:bodyPr/>
          <a:lstStyle/>
          <a:p>
            <a:r>
              <a:rPr lang="en-US" smtClean="0"/>
              <a:t>Dept. of CSE</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13</a:t>
            </a:fld>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5533" y="1109134"/>
            <a:ext cx="4182534" cy="2954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4701117"/>
            <a:ext cx="6917267" cy="2020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1" y="1109134"/>
            <a:ext cx="4199466" cy="2954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3007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NOTIFICATION SYSTEM </a:t>
            </a:r>
            <a:endParaRPr lang="en-IN" dirty="0"/>
          </a:p>
        </p:txBody>
      </p:sp>
      <p:sp>
        <p:nvSpPr>
          <p:cNvPr id="4" name="Footer Placeholder 3"/>
          <p:cNvSpPr>
            <a:spLocks noGrp="1"/>
          </p:cNvSpPr>
          <p:nvPr>
            <p:ph type="ftr" sz="quarter" idx="11"/>
          </p:nvPr>
        </p:nvSpPr>
        <p:spPr/>
        <p:txBody>
          <a:bodyPr/>
          <a:lstStyle/>
          <a:p>
            <a:r>
              <a:rPr lang="en-US" smtClean="0"/>
              <a:t>Dept. of CSE</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14</a:t>
            </a:fld>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6066" y="1621607"/>
            <a:ext cx="7230533" cy="4584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3571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ADMIN PANEL </a:t>
            </a:r>
            <a:endParaRPr lang="en-IN" dirty="0"/>
          </a:p>
        </p:txBody>
      </p:sp>
      <p:sp>
        <p:nvSpPr>
          <p:cNvPr id="4" name="Footer Placeholder 3"/>
          <p:cNvSpPr>
            <a:spLocks noGrp="1"/>
          </p:cNvSpPr>
          <p:nvPr>
            <p:ph type="ftr" sz="quarter" idx="11"/>
          </p:nvPr>
        </p:nvSpPr>
        <p:spPr/>
        <p:txBody>
          <a:bodyPr/>
          <a:lstStyle/>
          <a:p>
            <a:r>
              <a:rPr lang="en-US" smtClean="0"/>
              <a:t>Dept. of CSE</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15</a:t>
            </a:fld>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59468"/>
            <a:ext cx="8229600" cy="4696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091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6B5EEAB-B48A-5F76-3D4D-943904DCC209}"/>
              </a:ext>
            </a:extLst>
          </p:cNvPr>
          <p:cNvSpPr>
            <a:spLocks noGrp="1"/>
          </p:cNvSpPr>
          <p:nvPr>
            <p:ph idx="1"/>
          </p:nvPr>
        </p:nvSpPr>
        <p:spPr>
          <a:xfrm>
            <a:off x="560439" y="1756851"/>
            <a:ext cx="8229600" cy="5001495"/>
          </a:xfrm>
        </p:spPr>
        <p:txBody>
          <a:bodyPr>
            <a:normAutofit fontScale="47500" lnSpcReduction="20000"/>
          </a:bodyPr>
          <a:lstStyle/>
          <a:p>
            <a:r>
              <a:rPr lang="en-US" dirty="0" smtClean="0"/>
              <a:t>The </a:t>
            </a:r>
            <a:r>
              <a:rPr lang="en-US" dirty="0"/>
              <a:t>following functionalities and outputs are part of the </a:t>
            </a:r>
            <a:r>
              <a:rPr lang="en-US" b="1" dirty="0"/>
              <a:t>Movie Ticket Booking System</a:t>
            </a:r>
            <a:r>
              <a:rPr lang="en-US" dirty="0"/>
              <a:t> web application</a:t>
            </a:r>
            <a:r>
              <a:rPr lang="en-US" dirty="0" smtClean="0"/>
              <a:t>:</a:t>
            </a:r>
          </a:p>
          <a:p>
            <a:endParaRPr lang="en-US" dirty="0"/>
          </a:p>
          <a:p>
            <a:r>
              <a:rPr lang="en-US" b="1" dirty="0"/>
              <a:t>Movie Search Output:</a:t>
            </a:r>
            <a:r>
              <a:rPr lang="en-US" dirty="0"/>
              <a:t> Displays available movies, show timings, screen number, language, and seat availability.</a:t>
            </a:r>
          </a:p>
          <a:p>
            <a:r>
              <a:rPr lang="en-US" b="1" dirty="0"/>
              <a:t>Ticket Booking Confirmation:</a:t>
            </a:r>
            <a:r>
              <a:rPr lang="en-US" dirty="0"/>
              <a:t> On successful booking, the system generates a confirmation receipt with movie name, seat numbers, date, and timing details.</a:t>
            </a:r>
          </a:p>
          <a:p>
            <a:r>
              <a:rPr lang="en-US" b="1" dirty="0"/>
              <a:t>Seat Selection System:</a:t>
            </a:r>
            <a:r>
              <a:rPr lang="en-US" dirty="0"/>
              <a:t> Allows users to select preferred seats with real-time availability updates.</a:t>
            </a:r>
          </a:p>
          <a:p>
            <a:r>
              <a:rPr lang="en-US" b="1" dirty="0"/>
              <a:t>Payment Processing:</a:t>
            </a:r>
            <a:r>
              <a:rPr lang="en-US" dirty="0"/>
              <a:t> Supports secure online payment through debit card, credit card, UPI, and net banking.</a:t>
            </a:r>
          </a:p>
          <a:p>
            <a:r>
              <a:rPr lang="en-US" b="1" dirty="0"/>
              <a:t>Booking Cancellation:</a:t>
            </a:r>
            <a:r>
              <a:rPr lang="en-US" dirty="0"/>
              <a:t> Users can cancel booked tickets within the allowed time and receive refund details.</a:t>
            </a:r>
          </a:p>
          <a:p>
            <a:r>
              <a:rPr lang="en-US" b="1" dirty="0"/>
              <a:t>E-Ticket Generation:</a:t>
            </a:r>
            <a:r>
              <a:rPr lang="en-US" dirty="0"/>
              <a:t> Generates digital tickets with booking ID, QR code, and theater details for entry verification.</a:t>
            </a:r>
          </a:p>
          <a:p>
            <a:r>
              <a:rPr lang="en-US" b="1" dirty="0"/>
              <a:t>Notifications and Alerts:</a:t>
            </a:r>
            <a:r>
              <a:rPr lang="en-US" dirty="0"/>
              <a:t> Sends booking confirmation, payment success, and movie reminder notifications via email or SMS.</a:t>
            </a:r>
          </a:p>
          <a:p>
            <a:r>
              <a:rPr lang="en-US" b="1" dirty="0"/>
              <a:t>Admin Movie Management:</a:t>
            </a:r>
            <a:r>
              <a:rPr lang="en-US" dirty="0"/>
              <a:t> Enables admin to add, update, or remove movies, show timings, and theater details.</a:t>
            </a:r>
          </a:p>
          <a:p>
            <a:r>
              <a:rPr lang="en-US" b="1" dirty="0"/>
              <a:t>Reports:</a:t>
            </a:r>
            <a:r>
              <a:rPr lang="en-US" dirty="0"/>
              <a:t> Generates daily and monthly reports showing total bookings, revenue, popular movies, and customer activity.</a:t>
            </a:r>
          </a:p>
          <a:p>
            <a:r>
              <a:rPr lang="en-US" b="1" dirty="0"/>
              <a:t>User Account Management:</a:t>
            </a:r>
            <a:r>
              <a:rPr lang="en-US" dirty="0"/>
              <a:t> Allows users to register, login, manage profiles, and view booking history.</a:t>
            </a:r>
          </a:p>
          <a:p>
            <a:endParaRPr lang="en-IN" dirty="0"/>
          </a:p>
        </p:txBody>
      </p:sp>
      <p:sp>
        <p:nvSpPr>
          <p:cNvPr id="4" name="Footer Placeholder 3">
            <a:extLst>
              <a:ext uri="{FF2B5EF4-FFF2-40B4-BE49-F238E27FC236}">
                <a16:creationId xmlns:a16="http://schemas.microsoft.com/office/drawing/2014/main" xmlns="" id="{CF653BD1-0829-AF2E-C7AC-04001A508657}"/>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560A49A6-7F7D-43F1-5BF3-4DB11B0AAC6E}"/>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6" name="Title 1">
            <a:extLst>
              <a:ext uri="{FF2B5EF4-FFF2-40B4-BE49-F238E27FC236}">
                <a16:creationId xmlns:a16="http://schemas.microsoft.com/office/drawing/2014/main" xmlns="" id="{921F28DB-BBA7-4198-47DD-38AAF73C83D3}"/>
              </a:ext>
            </a:extLst>
          </p:cNvPr>
          <p:cNvSpPr>
            <a:spLocks noGrp="1"/>
          </p:cNvSpPr>
          <p:nvPr>
            <p:ph type="title"/>
          </p:nvPr>
        </p:nvSpPr>
        <p:spPr>
          <a:xfrm>
            <a:off x="457200" y="613851"/>
            <a:ext cx="8229600" cy="1143000"/>
          </a:xfrm>
        </p:spPr>
        <p:txBody>
          <a:bodyPr/>
          <a:lstStyle/>
          <a:p>
            <a:r>
              <a:rPr lang="en-US" sz="2400" b="1" dirty="0">
                <a:latin typeface="Times New Roman" panose="02020603050405020304" pitchFamily="18" charset="0"/>
                <a:cs typeface="Times New Roman" panose="02020603050405020304" pitchFamily="18" charset="0"/>
              </a:rPr>
              <a:t>Functionality and Output</a:t>
            </a:r>
          </a:p>
        </p:txBody>
      </p:sp>
      <p:pic>
        <p:nvPicPr>
          <p:cNvPr id="7" name="Picture 6">
            <a:extLst>
              <a:ext uri="{FF2B5EF4-FFF2-40B4-BE49-F238E27FC236}">
                <a16:creationId xmlns:a16="http://schemas.microsoft.com/office/drawing/2014/main" xmlns="" id="{86559CE3-0B5F-9363-40B5-AB938169E380}"/>
              </a:ext>
            </a:extLst>
          </p:cNvPr>
          <p:cNvPicPr>
            <a:picLocks noChangeAspect="1"/>
          </p:cNvPicPr>
          <p:nvPr/>
        </p:nvPicPr>
        <p:blipFill>
          <a:blip r:embed="rId2"/>
          <a:stretch>
            <a:fillRect/>
          </a:stretch>
        </p:blipFill>
        <p:spPr>
          <a:xfrm>
            <a:off x="171268" y="50620"/>
            <a:ext cx="2250103" cy="689973"/>
          </a:xfrm>
          <a:prstGeom prst="rect">
            <a:avLst/>
          </a:prstGeom>
        </p:spPr>
      </p:pic>
    </p:spTree>
    <p:extLst>
      <p:ext uri="{BB962C8B-B14F-4D97-AF65-F5344CB8AC3E}">
        <p14:creationId xmlns:p14="http://schemas.microsoft.com/office/powerpoint/2010/main" val="3648853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0D9017F-51D7-A1B1-1F5E-85D9DB2BB9FB}"/>
              </a:ext>
            </a:extLst>
          </p:cNvPr>
          <p:cNvSpPr>
            <a:spLocks noGrp="1"/>
          </p:cNvSpPr>
          <p:nvPr>
            <p:ph idx="1"/>
          </p:nvPr>
        </p:nvSpPr>
        <p:spPr>
          <a:xfrm>
            <a:off x="457200" y="2020323"/>
            <a:ext cx="8229600" cy="4525963"/>
          </a:xfrm>
        </p:spPr>
        <p:txBody>
          <a:bodyPr>
            <a:normAutofit fontScale="55000" lnSpcReduction="20000"/>
          </a:bodyPr>
          <a:lstStyle/>
          <a:p>
            <a:r>
              <a:rPr lang="en-US" b="1" dirty="0"/>
              <a:t>Innovation / Additional Features</a:t>
            </a:r>
          </a:p>
          <a:p>
            <a:r>
              <a:rPr lang="en-US" b="1" dirty="0"/>
              <a:t>Easy Seat Selection:</a:t>
            </a:r>
            <a:r>
              <a:rPr lang="en-US" dirty="0"/>
              <a:t> Users can choose seats based on availability with real-time seat status updates.</a:t>
            </a:r>
          </a:p>
          <a:p>
            <a:r>
              <a:rPr lang="en-US" b="1" dirty="0"/>
              <a:t>Online Payment Integration:</a:t>
            </a:r>
            <a:r>
              <a:rPr lang="en-US" dirty="0"/>
              <a:t> Supports secure payment methods such as UPI, credit/debit cards, net banking, and wallets.</a:t>
            </a:r>
          </a:p>
          <a:p>
            <a:r>
              <a:rPr lang="en-US" b="1" dirty="0"/>
              <a:t>Movie Search &amp; Filters:</a:t>
            </a:r>
            <a:r>
              <a:rPr lang="en-US" dirty="0"/>
              <a:t> Search movies by title, genre, language, theatre, show timing, or ratings.</a:t>
            </a:r>
          </a:p>
          <a:p>
            <a:r>
              <a:rPr lang="en-US" b="1" dirty="0"/>
              <a:t>Booking Confirmation Notification:</a:t>
            </a:r>
            <a:r>
              <a:rPr lang="en-US" dirty="0"/>
              <a:t> System sends booking confirmation and e-tickets through email or SMS instantly.</a:t>
            </a:r>
          </a:p>
          <a:p>
            <a:r>
              <a:rPr lang="en-US" b="1" dirty="0"/>
              <a:t>Dashboard:</a:t>
            </a:r>
            <a:r>
              <a:rPr lang="en-US" dirty="0"/>
              <a:t> Real-time statistics showing total bookings, active users, running movies, and revenue collection.</a:t>
            </a:r>
          </a:p>
          <a:p>
            <a:r>
              <a:rPr lang="en-US" b="1" dirty="0"/>
              <a:t>PDF Ticket Export:</a:t>
            </a:r>
            <a:r>
              <a:rPr lang="en-US" dirty="0"/>
              <a:t> Generate and download movie tickets and booking receipts in PDF format.</a:t>
            </a:r>
          </a:p>
          <a:p>
            <a:r>
              <a:rPr lang="en-US" b="1" dirty="0"/>
              <a:t>Login Security:</a:t>
            </a:r>
            <a:r>
              <a:rPr lang="en-US" dirty="0"/>
              <a:t> Role-based access control — Admin, Theatre Manager, and Customer have separate permissions.</a:t>
            </a:r>
          </a:p>
          <a:p>
            <a:r>
              <a:rPr lang="en-US" b="1" dirty="0"/>
              <a:t>Cancellation &amp; Refund:</a:t>
            </a:r>
            <a:r>
              <a:rPr lang="en-US" dirty="0"/>
              <a:t> Users can cancel tickets online and receive refund updates automatically.</a:t>
            </a:r>
          </a:p>
          <a:p>
            <a:endParaRPr lang="en-IN" dirty="0"/>
          </a:p>
        </p:txBody>
      </p:sp>
      <p:sp>
        <p:nvSpPr>
          <p:cNvPr id="4" name="Footer Placeholder 3">
            <a:extLst>
              <a:ext uri="{FF2B5EF4-FFF2-40B4-BE49-F238E27FC236}">
                <a16:creationId xmlns:a16="http://schemas.microsoft.com/office/drawing/2014/main" xmlns="" id="{24AC21D2-522E-7214-65C7-9A88E3F040E1}"/>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448D641E-D17A-04B8-8652-F71EB84CE822}"/>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6" name="Title 1">
            <a:extLst>
              <a:ext uri="{FF2B5EF4-FFF2-40B4-BE49-F238E27FC236}">
                <a16:creationId xmlns:a16="http://schemas.microsoft.com/office/drawing/2014/main" xmlns="" id="{24100724-3B5C-81F0-DE45-30447D3E5F7C}"/>
              </a:ext>
            </a:extLst>
          </p:cNvPr>
          <p:cNvSpPr>
            <a:spLocks noGrp="1"/>
          </p:cNvSpPr>
          <p:nvPr>
            <p:ph type="title"/>
          </p:nvPr>
        </p:nvSpPr>
        <p:spPr>
          <a:xfrm>
            <a:off x="457200" y="731837"/>
            <a:ext cx="8229600" cy="1143000"/>
          </a:xfrm>
        </p:spPr>
        <p:txBody>
          <a:bodyPr/>
          <a:lstStyle/>
          <a:p>
            <a:r>
              <a:rPr lang="en-US" sz="2400" b="1" dirty="0">
                <a:latin typeface="Times New Roman" panose="02020603050405020304" pitchFamily="18" charset="0"/>
                <a:cs typeface="Times New Roman" panose="02020603050405020304" pitchFamily="18" charset="0"/>
              </a:rPr>
              <a:t>Innovation / Additional Features</a:t>
            </a:r>
          </a:p>
        </p:txBody>
      </p:sp>
      <p:pic>
        <p:nvPicPr>
          <p:cNvPr id="7" name="Picture 6">
            <a:extLst>
              <a:ext uri="{FF2B5EF4-FFF2-40B4-BE49-F238E27FC236}">
                <a16:creationId xmlns:a16="http://schemas.microsoft.com/office/drawing/2014/main" xmlns="" id="{C069779F-2424-6942-230F-1CDDAA5A7AC3}"/>
              </a:ext>
            </a:extLst>
          </p:cNvPr>
          <p:cNvPicPr>
            <a:picLocks noChangeAspect="1"/>
          </p:cNvPicPr>
          <p:nvPr/>
        </p:nvPicPr>
        <p:blipFill>
          <a:blip r:embed="rId2"/>
          <a:stretch>
            <a:fillRect/>
          </a:stretch>
        </p:blipFill>
        <p:spPr>
          <a:xfrm>
            <a:off x="171268" y="50620"/>
            <a:ext cx="2250103" cy="689973"/>
          </a:xfrm>
          <a:prstGeom prst="rect">
            <a:avLst/>
          </a:prstGeom>
        </p:spPr>
      </p:pic>
    </p:spTree>
    <p:extLst>
      <p:ext uri="{BB962C8B-B14F-4D97-AF65-F5344CB8AC3E}">
        <p14:creationId xmlns:p14="http://schemas.microsoft.com/office/powerpoint/2010/main" val="24170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E8E6A1C-49FF-01D9-6919-54C2DF345033}"/>
              </a:ext>
            </a:extLst>
          </p:cNvPr>
          <p:cNvSpPr>
            <a:spLocks noGrp="1"/>
          </p:cNvSpPr>
          <p:nvPr>
            <p:ph idx="1"/>
          </p:nvPr>
        </p:nvSpPr>
        <p:spPr/>
        <p:txBody>
          <a:bodyPr>
            <a:normAutofit fontScale="32500" lnSpcReduction="20000"/>
          </a:bodyPr>
          <a:lstStyle/>
          <a:p>
            <a:r>
              <a:rPr lang="en-US" sz="3400" b="1" dirty="0"/>
              <a:t>Advantages and Limitations</a:t>
            </a:r>
          </a:p>
          <a:p>
            <a:r>
              <a:rPr lang="en-US" sz="4500" b="1" dirty="0"/>
              <a:t>Advantages:</a:t>
            </a:r>
          </a:p>
          <a:p>
            <a:r>
              <a:rPr lang="en-US" sz="4500" dirty="0"/>
              <a:t>Saves time by automating movie ticket booking, payment, and cancellation processes</a:t>
            </a:r>
            <a:r>
              <a:rPr lang="en-US" sz="4500" dirty="0" smtClean="0"/>
              <a:t>.</a:t>
            </a:r>
            <a:endParaRPr lang="en-US" sz="4500" dirty="0"/>
          </a:p>
          <a:p>
            <a:r>
              <a:rPr lang="en-US" sz="4500" dirty="0"/>
              <a:t>Reduces errors in seat allocation and booking records; improves accuracy of customer and transaction data.</a:t>
            </a:r>
          </a:p>
          <a:p>
            <a:r>
              <a:rPr lang="en-US" sz="4500" dirty="0"/>
              <a:t>Easy-to-use interface allows customers and theatre staff to operate without technical expertise.</a:t>
            </a:r>
          </a:p>
          <a:p>
            <a:r>
              <a:rPr lang="en-US" sz="4500" dirty="0"/>
              <a:t>Provides real-time seat availability and instant booking confirmation notifications.</a:t>
            </a:r>
          </a:p>
          <a:p>
            <a:r>
              <a:rPr lang="en-US" sz="4500" dirty="0"/>
              <a:t>Supports secure online payments with multiple payment options for user convenience.</a:t>
            </a:r>
          </a:p>
          <a:p>
            <a:r>
              <a:rPr lang="en-US" sz="4500" b="1" dirty="0"/>
              <a:t>Limitations:</a:t>
            </a:r>
          </a:p>
          <a:p>
            <a:r>
              <a:rPr lang="en-US" sz="4500" dirty="0"/>
              <a:t>Requires internet/network connectivity for online booking; offline booking support is limited.</a:t>
            </a:r>
          </a:p>
          <a:p>
            <a:r>
              <a:rPr lang="en-US" sz="4500" dirty="0"/>
              <a:t>High traffic during new movie releases may slow down the system performance.</a:t>
            </a:r>
          </a:p>
          <a:p>
            <a:r>
              <a:rPr lang="en-US" sz="4500" dirty="0"/>
              <a:t>Online payment failures or server issues can occasionally affect ticket booking.</a:t>
            </a:r>
          </a:p>
          <a:p>
            <a:r>
              <a:rPr lang="en-US" sz="4500" dirty="0"/>
              <a:t>Depends on regular system maintenance and updates for smooth operation and security.</a:t>
            </a:r>
          </a:p>
          <a:p>
            <a:endParaRPr lang="en-IN" dirty="0"/>
          </a:p>
        </p:txBody>
      </p:sp>
      <p:sp>
        <p:nvSpPr>
          <p:cNvPr id="4" name="Footer Placeholder 3">
            <a:extLst>
              <a:ext uri="{FF2B5EF4-FFF2-40B4-BE49-F238E27FC236}">
                <a16:creationId xmlns:a16="http://schemas.microsoft.com/office/drawing/2014/main" xmlns="" id="{C5281EE0-4F22-220F-3CBA-273129BACCE0}"/>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198CE1C1-21EA-7138-087C-1F4EC98E36EE}"/>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6" name="Title 1">
            <a:extLst>
              <a:ext uri="{FF2B5EF4-FFF2-40B4-BE49-F238E27FC236}">
                <a16:creationId xmlns:a16="http://schemas.microsoft.com/office/drawing/2014/main" xmlns="" id="{51F96772-077A-1B81-E694-79D272E47E92}"/>
              </a:ext>
            </a:extLst>
          </p:cNvPr>
          <p:cNvSpPr>
            <a:spLocks noGrp="1"/>
          </p:cNvSpPr>
          <p:nvPr>
            <p:ph type="title"/>
          </p:nvPr>
        </p:nvSpPr>
        <p:spPr>
          <a:xfrm>
            <a:off x="752168" y="899652"/>
            <a:ext cx="7934632" cy="517986"/>
          </a:xfrm>
        </p:spPr>
        <p:txBody>
          <a:bodyPr>
            <a:normAutofit/>
          </a:bodyPr>
          <a:lstStyle/>
          <a:p>
            <a:r>
              <a:rPr lang="en-US" sz="2400" b="1" dirty="0">
                <a:latin typeface="Times New Roman" panose="02020603050405020304" pitchFamily="18" charset="0"/>
                <a:cs typeface="Times New Roman" panose="02020603050405020304" pitchFamily="18" charset="0"/>
              </a:rPr>
              <a:t>Advantages and Limitations</a:t>
            </a:r>
          </a:p>
        </p:txBody>
      </p:sp>
      <p:pic>
        <p:nvPicPr>
          <p:cNvPr id="7" name="Picture 6">
            <a:extLst>
              <a:ext uri="{FF2B5EF4-FFF2-40B4-BE49-F238E27FC236}">
                <a16:creationId xmlns:a16="http://schemas.microsoft.com/office/drawing/2014/main" xmlns="" id="{BDF137EF-3147-2A0F-9007-C0312FCADBDA}"/>
              </a:ext>
            </a:extLst>
          </p:cNvPr>
          <p:cNvPicPr>
            <a:picLocks noChangeAspect="1"/>
          </p:cNvPicPr>
          <p:nvPr/>
        </p:nvPicPr>
        <p:blipFill>
          <a:blip r:embed="rId2"/>
          <a:stretch>
            <a:fillRect/>
          </a:stretch>
        </p:blipFill>
        <p:spPr>
          <a:xfrm>
            <a:off x="171268" y="50620"/>
            <a:ext cx="2250103" cy="689973"/>
          </a:xfrm>
          <a:prstGeom prst="rect">
            <a:avLst/>
          </a:prstGeom>
        </p:spPr>
      </p:pic>
    </p:spTree>
    <p:extLst>
      <p:ext uri="{BB962C8B-B14F-4D97-AF65-F5344CB8AC3E}">
        <p14:creationId xmlns:p14="http://schemas.microsoft.com/office/powerpoint/2010/main" val="2414166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51F7DE-A6D2-352C-1099-9F7D91E806EE}"/>
              </a:ext>
            </a:extLst>
          </p:cNvPr>
          <p:cNvSpPr>
            <a:spLocks noGrp="1"/>
          </p:cNvSpPr>
          <p:nvPr>
            <p:ph type="title"/>
          </p:nvPr>
        </p:nvSpPr>
        <p:spPr>
          <a:xfrm>
            <a:off x="378541" y="798513"/>
            <a:ext cx="8229600" cy="1143000"/>
          </a:xfrm>
        </p:spPr>
        <p:txBody>
          <a:bodyPr>
            <a:normAutofit/>
          </a:bodyPr>
          <a:lstStyle/>
          <a:p>
            <a:r>
              <a:rPr lang="en-US" sz="2400" b="1" dirty="0">
                <a:latin typeface="Times New Roman" panose="02020603050405020304" pitchFamily="18" charset="0"/>
                <a:cs typeface="Times New Roman" panose="02020603050405020304" pitchFamily="18" charset="0"/>
              </a:rPr>
              <a:t>Conclusion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DD9A7374-81E9-85DB-D4EF-05AB2C8796B8}"/>
              </a:ext>
            </a:extLst>
          </p:cNvPr>
          <p:cNvSpPr>
            <a:spLocks noGrp="1"/>
          </p:cNvSpPr>
          <p:nvPr>
            <p:ph idx="1"/>
          </p:nvPr>
        </p:nvSpPr>
        <p:spPr/>
        <p:txBody>
          <a:bodyPr>
            <a:normAutofit/>
          </a:bodyPr>
          <a:lstStyle/>
          <a:p>
            <a:r>
              <a:rPr lang="en-US" sz="1800" dirty="0" smtClean="0"/>
              <a:t>The </a:t>
            </a:r>
            <a:r>
              <a:rPr lang="en-US" sz="1800" dirty="0"/>
              <a:t>Movie Ticket Booking System successfully automates core theatre operations including movie scheduling, ticket booking, seat management, and payment processing.</a:t>
            </a:r>
          </a:p>
          <a:p>
            <a:r>
              <a:rPr lang="en-US" sz="1800" dirty="0"/>
              <a:t>It solves the problem of manual ticket booking by providing a centralized, accurate, and efficient online booking platform.</a:t>
            </a:r>
          </a:p>
          <a:p>
            <a:r>
              <a:rPr lang="en-US" sz="1800" dirty="0"/>
              <a:t>The system benefits theatre management by reducing workload and improving booking management, while customers benefit from quick seat selection and instant ticket confirmation.</a:t>
            </a:r>
          </a:p>
          <a:p>
            <a:r>
              <a:rPr lang="en-US" sz="1800" dirty="0"/>
              <a:t>This project demonstrates practical application of DBMS concepts including SQL queries, normalization, ER diagrams, and CRUD operations.</a:t>
            </a:r>
          </a:p>
          <a:p>
            <a:r>
              <a:rPr lang="en-US" sz="1800" dirty="0"/>
              <a:t>The system also enhances user experience through secure online payments, real-time seat availability, and automated booking notifications.</a:t>
            </a:r>
          </a:p>
          <a:p>
            <a:pPr marL="0" indent="0">
              <a:buNone/>
            </a:pPr>
            <a:endParaRPr lang="en-US" sz="1600" dirty="0"/>
          </a:p>
        </p:txBody>
      </p:sp>
      <p:sp>
        <p:nvSpPr>
          <p:cNvPr id="4" name="Footer Placeholder 3">
            <a:extLst>
              <a:ext uri="{FF2B5EF4-FFF2-40B4-BE49-F238E27FC236}">
                <a16:creationId xmlns:a16="http://schemas.microsoft.com/office/drawing/2014/main" xmlns="" id="{9EF9946D-8A97-E394-E8DC-BA93341EBDB7}"/>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F6F53E0D-D4B1-5E91-8758-0DFE168D7DE5}"/>
              </a:ext>
            </a:extLst>
          </p:cNvPr>
          <p:cNvSpPr>
            <a:spLocks noGrp="1"/>
          </p:cNvSpPr>
          <p:nvPr>
            <p:ph type="sldNum" sz="quarter" idx="12"/>
          </p:nvPr>
        </p:nvSpPr>
        <p:spPr/>
        <p:txBody>
          <a:bodyPr/>
          <a:lstStyle/>
          <a:p>
            <a:fld id="{C1FF6DA9-008F-8B48-92A6-B652298478BF}" type="slidenum">
              <a:rPr lang="en-US" smtClean="0"/>
              <a:t>19</a:t>
            </a:fld>
            <a:endParaRPr lang="en-US"/>
          </a:p>
        </p:txBody>
      </p:sp>
      <p:pic>
        <p:nvPicPr>
          <p:cNvPr id="6" name="Picture 5">
            <a:extLst>
              <a:ext uri="{FF2B5EF4-FFF2-40B4-BE49-F238E27FC236}">
                <a16:creationId xmlns:a16="http://schemas.microsoft.com/office/drawing/2014/main" xmlns="" id="{AE9C7FDB-54F0-B65E-9369-B45563474F4D}"/>
              </a:ext>
            </a:extLst>
          </p:cNvPr>
          <p:cNvPicPr>
            <a:picLocks noChangeAspect="1"/>
          </p:cNvPicPr>
          <p:nvPr/>
        </p:nvPicPr>
        <p:blipFill>
          <a:blip r:embed="rId2"/>
          <a:stretch>
            <a:fillRect/>
          </a:stretch>
        </p:blipFill>
        <p:spPr>
          <a:xfrm>
            <a:off x="171268" y="50620"/>
            <a:ext cx="2250103" cy="689973"/>
          </a:xfrm>
          <a:prstGeom prst="rect">
            <a:avLst/>
          </a:prstGeom>
        </p:spPr>
      </p:pic>
    </p:spTree>
    <p:extLst>
      <p:ext uri="{BB962C8B-B14F-4D97-AF65-F5344CB8AC3E}">
        <p14:creationId xmlns:p14="http://schemas.microsoft.com/office/powerpoint/2010/main" val="4041890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BADD8E-0C07-22DA-256D-27D76DFE9207}"/>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Future Scope</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76F4D620-10D2-BCA2-E452-83DA5DCBF911}"/>
              </a:ext>
            </a:extLst>
          </p:cNvPr>
          <p:cNvSpPr>
            <a:spLocks noGrp="1"/>
          </p:cNvSpPr>
          <p:nvPr>
            <p:ph idx="1"/>
          </p:nvPr>
        </p:nvSpPr>
        <p:spPr/>
        <p:txBody>
          <a:bodyPr>
            <a:normAutofit/>
          </a:bodyPr>
          <a:lstStyle/>
          <a:p>
            <a:endParaRPr lang="en-US" sz="1600" dirty="0"/>
          </a:p>
          <a:p>
            <a:pPr marL="342900" indent="-342900">
              <a:lnSpc>
                <a:spcPct val="12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Mobile Application: Develop Android/iOS app for members to search books and check availability remotely.</a:t>
            </a:r>
          </a:p>
          <a:p>
            <a:pPr marL="342900" indent="-342900">
              <a:lnSpc>
                <a:spcPct val="12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Cloud Database: Migrate to cloud platforms (AWS RDS / Google Cloud SQL) for scalability and remote access.</a:t>
            </a:r>
          </a:p>
          <a:p>
            <a:pPr marL="342900" indent="-342900">
              <a:lnSpc>
                <a:spcPct val="12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AI Integration: Implement book recommendation engine based on member borrowing history and preferences.</a:t>
            </a:r>
          </a:p>
          <a:p>
            <a:pPr marL="342900" indent="-342900">
              <a:lnSpc>
                <a:spcPct val="12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Analytics Dashboard: Visual charts showing borrowing trends, most popular genres, and peak usage times.</a:t>
            </a:r>
          </a:p>
          <a:p>
            <a:pPr marL="342900" indent="-342900">
              <a:lnSpc>
                <a:spcPct val="120000"/>
              </a:lnSpc>
              <a:buFont typeface="Arial" panose="020B0604020202020204" pitchFamily="34" charset="0"/>
              <a:buChar char="•"/>
              <a:defRPr sz="1800"/>
            </a:pPr>
            <a:r>
              <a:rPr lang="en-US" sz="1800" dirty="0">
                <a:latin typeface="Times New Roman" panose="02020603050405020304" pitchFamily="18" charset="0"/>
                <a:cs typeface="Times New Roman" panose="02020603050405020304" pitchFamily="18" charset="0"/>
              </a:rPr>
              <a:t>QR Code / Barcode Scanning: Enable quick book check-in and check-out using barcode scanners.</a:t>
            </a:r>
          </a:p>
          <a:p>
            <a:pPr marL="0" indent="0">
              <a:buNone/>
            </a:pPr>
            <a:endParaRPr lang="en-US" sz="1600" dirty="0"/>
          </a:p>
        </p:txBody>
      </p:sp>
      <p:sp>
        <p:nvSpPr>
          <p:cNvPr id="4" name="Footer Placeholder 3">
            <a:extLst>
              <a:ext uri="{FF2B5EF4-FFF2-40B4-BE49-F238E27FC236}">
                <a16:creationId xmlns:a16="http://schemas.microsoft.com/office/drawing/2014/main" xmlns="" id="{739C84BF-E311-2026-B7AE-0831973A9572}"/>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19423F18-EB5C-B837-F9EA-33389FE77AFF}"/>
              </a:ext>
            </a:extLst>
          </p:cNvPr>
          <p:cNvSpPr>
            <a:spLocks noGrp="1"/>
          </p:cNvSpPr>
          <p:nvPr>
            <p:ph type="sldNum" sz="quarter" idx="12"/>
          </p:nvPr>
        </p:nvSpPr>
        <p:spPr/>
        <p:txBody>
          <a:bodyPr/>
          <a:lstStyle/>
          <a:p>
            <a:fld id="{C1FF6DA9-008F-8B48-92A6-B652298478BF}" type="slidenum">
              <a:rPr lang="en-US" smtClean="0"/>
              <a:t>20</a:t>
            </a:fld>
            <a:endParaRPr lang="en-US"/>
          </a:p>
        </p:txBody>
      </p:sp>
      <p:pic>
        <p:nvPicPr>
          <p:cNvPr id="6" name="Picture 5">
            <a:extLst>
              <a:ext uri="{FF2B5EF4-FFF2-40B4-BE49-F238E27FC236}">
                <a16:creationId xmlns:a16="http://schemas.microsoft.com/office/drawing/2014/main" xmlns="" id="{6D7866EB-6826-418C-F729-4590B58E2C2D}"/>
              </a:ext>
            </a:extLst>
          </p:cNvPr>
          <p:cNvPicPr>
            <a:picLocks noChangeAspect="1"/>
          </p:cNvPicPr>
          <p:nvPr/>
        </p:nvPicPr>
        <p:blipFill>
          <a:blip r:embed="rId2"/>
          <a:stretch>
            <a:fillRect/>
          </a:stretch>
        </p:blipFill>
        <p:spPr>
          <a:xfrm>
            <a:off x="171268" y="50620"/>
            <a:ext cx="2250103" cy="689973"/>
          </a:xfrm>
          <a:prstGeom prst="rect">
            <a:avLst/>
          </a:prstGeom>
        </p:spPr>
      </p:pic>
    </p:spTree>
    <p:extLst>
      <p:ext uri="{BB962C8B-B14F-4D97-AF65-F5344CB8AC3E}">
        <p14:creationId xmlns:p14="http://schemas.microsoft.com/office/powerpoint/2010/main" val="1109089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0E172B-DA4D-1F12-975D-8C93B068546B}"/>
              </a:ext>
            </a:extLst>
          </p:cNvPr>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References</a:t>
            </a:r>
            <a:endParaRPr lang="en-US" dirty="0"/>
          </a:p>
        </p:txBody>
      </p:sp>
      <p:sp>
        <p:nvSpPr>
          <p:cNvPr id="4" name="Footer Placeholder 3">
            <a:extLst>
              <a:ext uri="{FF2B5EF4-FFF2-40B4-BE49-F238E27FC236}">
                <a16:creationId xmlns:a16="http://schemas.microsoft.com/office/drawing/2014/main" xmlns="" id="{E98B74AB-8D2C-638F-4213-04138A27D063}"/>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1E01E767-3E1F-B5B8-3933-16850375D097}"/>
              </a:ext>
            </a:extLst>
          </p:cNvPr>
          <p:cNvSpPr>
            <a:spLocks noGrp="1"/>
          </p:cNvSpPr>
          <p:nvPr>
            <p:ph type="sldNum" sz="quarter" idx="12"/>
          </p:nvPr>
        </p:nvSpPr>
        <p:spPr/>
        <p:txBody>
          <a:bodyPr/>
          <a:lstStyle/>
          <a:p>
            <a:fld id="{C1FF6DA9-008F-8B48-92A6-B652298478BF}" type="slidenum">
              <a:rPr lang="en-US" smtClean="0"/>
              <a:t>21</a:t>
            </a:fld>
            <a:endParaRPr lang="en-US"/>
          </a:p>
        </p:txBody>
      </p:sp>
      <p:pic>
        <p:nvPicPr>
          <p:cNvPr id="6" name="Picture 5">
            <a:extLst>
              <a:ext uri="{FF2B5EF4-FFF2-40B4-BE49-F238E27FC236}">
                <a16:creationId xmlns:a16="http://schemas.microsoft.com/office/drawing/2014/main" xmlns="" id="{CE268681-5F70-9876-0C62-B353401100D9}"/>
              </a:ext>
            </a:extLst>
          </p:cNvPr>
          <p:cNvPicPr>
            <a:picLocks noChangeAspect="1"/>
          </p:cNvPicPr>
          <p:nvPr/>
        </p:nvPicPr>
        <p:blipFill>
          <a:blip r:embed="rId2"/>
          <a:stretch>
            <a:fillRect/>
          </a:stretch>
        </p:blipFill>
        <p:spPr>
          <a:xfrm>
            <a:off x="171268" y="50620"/>
            <a:ext cx="2250103" cy="689973"/>
          </a:xfrm>
          <a:prstGeom prst="rect">
            <a:avLst/>
          </a:prstGeom>
        </p:spPr>
      </p:pic>
      <p:sp>
        <p:nvSpPr>
          <p:cNvPr id="10" name="TextBox 9">
            <a:extLst>
              <a:ext uri="{FF2B5EF4-FFF2-40B4-BE49-F238E27FC236}">
                <a16:creationId xmlns:a16="http://schemas.microsoft.com/office/drawing/2014/main" xmlns="" id="{DF98835A-9FC7-A945-3E1A-BB64D699D68F}"/>
              </a:ext>
            </a:extLst>
          </p:cNvPr>
          <p:cNvSpPr txBox="1"/>
          <p:nvPr/>
        </p:nvSpPr>
        <p:spPr>
          <a:xfrm>
            <a:off x="1735394" y="1671530"/>
            <a:ext cx="5884606" cy="4524315"/>
          </a:xfrm>
          <a:prstGeom prst="rect">
            <a:avLst/>
          </a:prstGeom>
          <a:noFill/>
        </p:spPr>
        <p:txBody>
          <a:bodyPr wrap="square">
            <a:spAutoFit/>
          </a:bodyPr>
          <a:lstStyle/>
          <a:p>
            <a:r>
              <a:rPr lang="en-IN" b="1" dirty="0"/>
              <a:t>References</a:t>
            </a:r>
          </a:p>
          <a:p>
            <a:r>
              <a:rPr lang="en-IN" dirty="0"/>
              <a:t>Abraham </a:t>
            </a:r>
            <a:r>
              <a:rPr lang="en-IN" dirty="0" err="1"/>
              <a:t>Silberschatz</a:t>
            </a:r>
            <a:r>
              <a:rPr lang="en-IN" dirty="0"/>
              <a:t>, Henry F. </a:t>
            </a:r>
            <a:r>
              <a:rPr lang="en-IN" dirty="0" err="1"/>
              <a:t>Korth</a:t>
            </a:r>
            <a:r>
              <a:rPr lang="en-IN" dirty="0"/>
              <a:t>, S. </a:t>
            </a:r>
            <a:r>
              <a:rPr lang="en-IN" dirty="0" err="1"/>
              <a:t>Sudarshan</a:t>
            </a:r>
            <a:r>
              <a:rPr lang="en-IN" dirty="0"/>
              <a:t> — </a:t>
            </a:r>
            <a:r>
              <a:rPr lang="en-IN" i="1" dirty="0"/>
              <a:t>“Database System Concepts”</a:t>
            </a:r>
            <a:r>
              <a:rPr lang="en-IN" dirty="0"/>
              <a:t>, 7th Edition, McGraw-Hill Education, 2019.</a:t>
            </a:r>
          </a:p>
          <a:p>
            <a:r>
              <a:rPr lang="en-IN" dirty="0"/>
              <a:t>W3Schools SQL Tutorial:</a:t>
            </a:r>
            <a:br>
              <a:rPr lang="en-IN" dirty="0"/>
            </a:br>
            <a:r>
              <a:rPr lang="en-IN" dirty="0">
                <a:hlinkClick r:id="rId3"/>
              </a:rPr>
              <a:t>W3Schools SQL Tutorial</a:t>
            </a:r>
            <a:endParaRPr lang="en-IN" dirty="0"/>
          </a:p>
          <a:p>
            <a:r>
              <a:rPr lang="en-IN" dirty="0"/>
              <a:t>MySQL Official Documentation:</a:t>
            </a:r>
            <a:br>
              <a:rPr lang="en-IN" dirty="0"/>
            </a:br>
            <a:r>
              <a:rPr lang="en-IN" dirty="0">
                <a:hlinkClick r:id="rId4"/>
              </a:rPr>
              <a:t>MySQL Documentation</a:t>
            </a:r>
            <a:endParaRPr lang="en-IN" dirty="0"/>
          </a:p>
          <a:p>
            <a:r>
              <a:rPr lang="en-IN" dirty="0" err="1"/>
              <a:t>GeeksforGeeks</a:t>
            </a:r>
            <a:r>
              <a:rPr lang="en-IN" dirty="0"/>
              <a:t> — Movie Ticket Booking System Database Design:</a:t>
            </a:r>
            <a:br>
              <a:rPr lang="en-IN" dirty="0"/>
            </a:br>
            <a:r>
              <a:rPr lang="en-IN" dirty="0" err="1">
                <a:hlinkClick r:id="rId5"/>
              </a:rPr>
              <a:t>GeeksforGeeks</a:t>
            </a:r>
            <a:r>
              <a:rPr lang="en-IN" dirty="0">
                <a:hlinkClick r:id="rId5"/>
              </a:rPr>
              <a:t> DBMS Articles</a:t>
            </a:r>
            <a:endParaRPr lang="en-IN" dirty="0"/>
          </a:p>
          <a:p>
            <a:r>
              <a:rPr lang="en-IN" dirty="0" err="1"/>
              <a:t>TutorialsPoint</a:t>
            </a:r>
            <a:r>
              <a:rPr lang="en-IN" dirty="0"/>
              <a:t> — DBMS Tutorial:</a:t>
            </a:r>
            <a:br>
              <a:rPr lang="en-IN" dirty="0"/>
            </a:br>
            <a:r>
              <a:rPr lang="en-IN" dirty="0" err="1">
                <a:hlinkClick r:id="rId6"/>
              </a:rPr>
              <a:t>TutorialsPoint</a:t>
            </a:r>
            <a:r>
              <a:rPr lang="en-IN" dirty="0">
                <a:hlinkClick r:id="rId6"/>
              </a:rPr>
              <a:t> DBMS Tutorial</a:t>
            </a:r>
            <a:endParaRPr lang="en-IN" dirty="0"/>
          </a:p>
          <a:p>
            <a:r>
              <a:rPr lang="en-IN" dirty="0"/>
              <a:t>Oracle Database Documentation:</a:t>
            </a:r>
            <a:br>
              <a:rPr lang="en-IN" dirty="0"/>
            </a:br>
            <a:r>
              <a:rPr lang="en-IN" dirty="0">
                <a:hlinkClick r:id="rId7"/>
              </a:rPr>
              <a:t>Oracle Database Docs</a:t>
            </a:r>
            <a:endParaRPr lang="en-IN" dirty="0"/>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4594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1703" y="2857500"/>
            <a:ext cx="8229600" cy="1143000"/>
          </a:xfrm>
        </p:spPr>
        <p:txBody>
          <a:bodyPr>
            <a:normAutofit/>
          </a:bodyPr>
          <a:lstStyle/>
          <a:p>
            <a:r>
              <a:rPr sz="6600" dirty="0">
                <a:latin typeface="Times New Roman" panose="02020603050405020304" pitchFamily="18" charset="0"/>
                <a:cs typeface="Times New Roman" panose="02020603050405020304" pitchFamily="18" charset="0"/>
              </a:rPr>
              <a:t>Thank You</a:t>
            </a:r>
          </a:p>
        </p:txBody>
      </p:sp>
      <p:pic>
        <p:nvPicPr>
          <p:cNvPr id="4" name="Picture 3">
            <a:extLst>
              <a:ext uri="{FF2B5EF4-FFF2-40B4-BE49-F238E27FC236}">
                <a16:creationId xmlns:a16="http://schemas.microsoft.com/office/drawing/2014/main" xmlns="" id="{E24D4F7A-4AF1-7E5C-9B99-070619856646}"/>
              </a:ext>
            </a:extLst>
          </p:cNvPr>
          <p:cNvPicPr>
            <a:picLocks noChangeAspect="1"/>
          </p:cNvPicPr>
          <p:nvPr/>
        </p:nvPicPr>
        <p:blipFill>
          <a:blip r:embed="rId2"/>
          <a:stretch>
            <a:fillRect/>
          </a:stretch>
        </p:blipFill>
        <p:spPr>
          <a:xfrm>
            <a:off x="171268" y="50620"/>
            <a:ext cx="2250103" cy="689973"/>
          </a:xfrm>
          <a:prstGeom prst="rect">
            <a:avLst/>
          </a:prstGeom>
        </p:spPr>
      </p:pic>
      <p:sp>
        <p:nvSpPr>
          <p:cNvPr id="3" name="Footer Placeholder 2">
            <a:extLst>
              <a:ext uri="{FF2B5EF4-FFF2-40B4-BE49-F238E27FC236}">
                <a16:creationId xmlns:a16="http://schemas.microsoft.com/office/drawing/2014/main" xmlns="" id="{3088F8DE-425D-93A6-5A5C-C81DEC0C4592}"/>
              </a:ext>
            </a:extLst>
          </p:cNvPr>
          <p:cNvSpPr>
            <a:spLocks noGrp="1"/>
          </p:cNvSpPr>
          <p:nvPr>
            <p:ph type="ftr" sz="quarter" idx="11"/>
          </p:nvPr>
        </p:nvSpPr>
        <p:spPr/>
        <p:txBody>
          <a:bodyPr/>
          <a:lstStyle/>
          <a:p>
            <a:r>
              <a:rPr lang="en-US"/>
              <a:t>Dept. of CSE</a:t>
            </a:r>
          </a:p>
        </p:txBody>
      </p:sp>
      <p:sp>
        <p:nvSpPr>
          <p:cNvPr id="5" name="Slide Number Placeholder 4">
            <a:extLst>
              <a:ext uri="{FF2B5EF4-FFF2-40B4-BE49-F238E27FC236}">
                <a16:creationId xmlns:a16="http://schemas.microsoft.com/office/drawing/2014/main" xmlns="" id="{E353C17C-5FAE-D912-4824-68DF3D6E7BB4}"/>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1539</Words>
  <Application>Microsoft Office PowerPoint</Application>
  <PresentationFormat>On-screen Show (4:3)</PresentationFormat>
  <Paragraphs>169</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Sapthagiri NPS University Department of Computer Science and Engineering</vt:lpstr>
      <vt:lpstr>Agenda</vt:lpstr>
      <vt:lpstr>Introduction</vt:lpstr>
      <vt:lpstr>Problem Definition</vt:lpstr>
      <vt:lpstr>Database Design</vt:lpstr>
      <vt:lpstr>ER Diagram — Movie Ticket Booking System</vt:lpstr>
      <vt:lpstr>Tables and Relationships</vt:lpstr>
      <vt:lpstr>Database Tables — Schema</vt:lpstr>
      <vt:lpstr>SQL Queries / CRUD Operations</vt:lpstr>
      <vt:lpstr>Frontend / Interface — Application Screens</vt:lpstr>
      <vt:lpstr>USER VIEW </vt:lpstr>
      <vt:lpstr>MOVIE BOOKING SCREEN</vt:lpstr>
      <vt:lpstr>TICKET RECEIPT </vt:lpstr>
      <vt:lpstr>NOTIFICATION SYSTEM </vt:lpstr>
      <vt:lpstr>ADMIN PANEL </vt:lpstr>
      <vt:lpstr>Functionality and Output</vt:lpstr>
      <vt:lpstr>Innovation / Additional Features</vt:lpstr>
      <vt:lpstr>Advantages and Limitations</vt:lpstr>
      <vt:lpstr>Conclusion </vt:lpstr>
      <vt:lpstr>Future Scope </vt:lpstr>
      <vt:lpstr>References</vt:lpstr>
      <vt:lpstr>Thank You</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Sapthagiri NPS University Department of Computer Science and Engineering</dc:title>
  <dc:creator>Manoj Kumar Y S</dc:creator>
  <dc:description>generated using python-pptx</dc:description>
  <cp:lastModifiedBy>Ramesh Gowdru</cp:lastModifiedBy>
  <cp:revision>34</cp:revision>
  <dcterms:created xsi:type="dcterms:W3CDTF">2013-01-27T09:14:16Z</dcterms:created>
  <dcterms:modified xsi:type="dcterms:W3CDTF">2026-08-01T05:46:24Z</dcterms:modified>
</cp:coreProperties>
</file>